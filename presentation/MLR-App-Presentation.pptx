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this doubles as your run-of-show. Each slide's FIND IT line is what to open in the app; the bold line is your key message; bullets are your talking points. Go in order; don't skip ahead. Open with: “We built something for the whole family — one app that's our home base for the lake all year, and especially for Family Fest.”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Don't open the app until you've given the opening line and this agenda. Promise the 'how to get it' payoff at the end so nobody rushes you. Goal: everyone adds it + signs in before they leave.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it's the 'why should I care.' Land the 'one place instead of ten' idea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clearly — it parks the #1 interrupting question (“how do I get it?”) until the end so you can get through the tour cleanly. Repeat the 'just watch, we'll set you up at the end' line if people start fumbling with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them to the map before the journey. Just name the five tabs; don't tap into each yet — that's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Scroll slowly so eyes can follow. Don't tap into tiles yet — name them; you cover the important ones in their own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emotional core — spend the most time here. Tap into Schedule and Dinners so they see real names and times. Family Fest is wine-colored, a different look — that's on purpose.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point that RSVPs help the planners cook and plan for the right head-count. Demo changing your own RSVP so they see it's not scary.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a real sample post and read it aloud — makes it feel alive. This is the 'why you'll open it even when it's not Fest week' feature.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Great for the 'I never have anyone's number' problem. Show the Text/Call/Pay bar — that's the wow moment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to recruit volunteers in the room. Name the leads so people know who to talk to. Chat is members-only.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it as 'many hands make light work.' This one is beta — set that expectation so a hiccup isn't a surprise.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on money: the app stores no payment credentials, it just opens Venmo/Zelle. That kills the security worry instantly.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control: they choose what buzzes their phone. People fear app spam — this removes that objection.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you promised at the start. Walk them through it live, slowly. Have the link/QR ready. Tell iPhone users to add to Home Screen FIRST, then sign in there, so they don't sign in twice.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reassurance slide for the older / less techy crowd. Emphasize the human escape hatch — they can always just call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action, not features. Get them to do the three things in the room if you can. Then take questions — the appendix has your backup facts.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facts for questions. You don't present this — it's your cheat sheet for whatever they throw at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4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nd-logo.jpg"/>
          <p:cNvPicPr>
            <a:picLocks noChangeAspect="1"/>
          </p:cNvPicPr>
          <p:nvPr/>
        </p:nvPicPr>
        <p:blipFill>
          <a:blip r:embed="rId2"/>
          <a:stretch>
            <a:fillRect/>
          </a:stretch>
        </p:blipFill>
        <p:spPr>
          <a:xfrm>
            <a:off x="4678527" y="822960"/>
            <a:ext cx="2834640" cy="1895401"/>
          </a:xfrm>
          <a:prstGeom prst="rect">
            <a:avLst/>
          </a:prstGeom>
        </p:spPr>
      </p:pic>
      <p:sp>
        <p:nvSpPr>
          <p:cNvPr id="4" name="TextBox 3"/>
          <p:cNvSpPr txBox="1"/>
          <p:nvPr/>
        </p:nvSpPr>
        <p:spPr>
          <a:xfrm>
            <a:off x="914400" y="3886200"/>
            <a:ext cx="10360152" cy="91440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4000" b="1" i="0">
                <a:solidFill>
                  <a:srgbClr val="FFFFFF"/>
                </a:solidFill>
                <a:latin typeface="Calibri"/>
              </a:rPr>
              <a:t>The Muskellunge Lake Resort App</a:t>
            </a:r>
          </a:p>
        </p:txBody>
      </p:sp>
      <p:sp>
        <p:nvSpPr>
          <p:cNvPr id="5" name="TextBox 4"/>
          <p:cNvSpPr txBox="1"/>
          <p:nvPr/>
        </p:nvSpPr>
        <p:spPr>
          <a:xfrm>
            <a:off x="914400" y="4709160"/>
            <a:ext cx="10360152" cy="5486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800" b="0" i="0">
                <a:solidFill>
                  <a:srgbClr val="E9E2C9"/>
                </a:solidFill>
                <a:latin typeface="Calibri"/>
              </a:rPr>
              <a:t>Your Northwoods home on Muskellunge Lake  ·  In the family since 1959</a:t>
            </a:r>
          </a:p>
        </p:txBody>
      </p:sp>
      <p:sp>
        <p:nvSpPr>
          <p:cNvPr id="6" name="Rounded Rectangle 5"/>
          <p:cNvSpPr/>
          <p:nvPr/>
        </p:nvSpPr>
        <p:spPr>
          <a:xfrm>
            <a:off x="3169767" y="5715000"/>
            <a:ext cx="5852160" cy="566928"/>
          </a:xfrm>
          <a:prstGeom prst="roundRect">
            <a:avLst>
              <a:gd name="adj" fmla="val 6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69767" y="5733288"/>
            <a:ext cx="5852160" cy="530352"/>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500" b="1" i="0">
                <a:solidFill>
                  <a:srgbClr val="FFFFFF"/>
                </a:solidFill>
                <a:latin typeface="Calibri"/>
              </a:rPr>
              <a:t>A guided tour  ·  follow along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WELCOME</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 of 16</a:t>
            </a:r>
          </a:p>
        </p:txBody>
      </p:sp>
      <p:sp>
        <p:nvSpPr>
          <p:cNvPr id="8" name="TextBox 7"/>
          <p:cNvSpPr txBox="1"/>
          <p:nvPr/>
        </p:nvSpPr>
        <p:spPr>
          <a:xfrm>
            <a:off x="640080" y="1371600"/>
            <a:ext cx="10972800" cy="9144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200" b="1" i="0">
                <a:solidFill>
                  <a:srgbClr val="14241C"/>
                </a:solidFill>
                <a:latin typeface="Calibri"/>
              </a:rPr>
              <a:t>What we'll look at</a:t>
            </a:r>
          </a:p>
        </p:txBody>
      </p:sp>
      <p:sp>
        <p:nvSpPr>
          <p:cNvPr id="9" name="Rounded Rectangle 8"/>
          <p:cNvSpPr/>
          <p:nvPr/>
        </p:nvSpPr>
        <p:spPr>
          <a:xfrm>
            <a:off x="640080" y="2331720"/>
            <a:ext cx="10908792" cy="3566160"/>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6040"/>
            <a:ext cx="10149840" cy="3108960"/>
          </a:xfrm>
          <a:prstGeom prst="rect">
            <a:avLst/>
          </a:prstGeom>
          <a:noFill/>
        </p:spPr>
        <p:txBody>
          <a:bodyPr wrap="square" anchor="t" lIns="25400" rIns="25400" tIns="12700" bIns="12700">
            <a:spAutoFit/>
          </a:bodyPr>
          <a:lstStyle/>
          <a:p>
            <a:pPr algn="l">
              <a:lnSpc>
                <a:spcPct val="105000"/>
              </a:lnSpc>
              <a:spcBef>
                <a:spcPts val="0"/>
              </a:spcBef>
              <a:spcAft>
                <a:spcPts val="1000"/>
              </a:spcAft>
            </a:pPr>
            <a:r>
              <a:rPr sz="1800" b="1" i="0">
                <a:solidFill>
                  <a:srgbClr val="14241C"/>
                </a:solidFill>
                <a:latin typeface="Calibri"/>
              </a:rPr>
              <a:t>A few minutes, in plain English. Here's the tour:</a:t>
            </a:r>
          </a:p>
          <a:p>
            <a:pPr algn="l">
              <a:lnSpc>
                <a:spcPct val="105000"/>
              </a:lnSpc>
              <a:spcBef>
                <a:spcPts val="0"/>
              </a:spcBef>
              <a:spcAft>
                <a:spcPts val="1000"/>
              </a:spcAft>
            </a:pPr>
            <a:r>
              <a:rPr sz="1600" b="1" i="0">
                <a:solidFill>
                  <a:srgbClr val="15503A"/>
                </a:solidFill>
                <a:latin typeface="Calibri"/>
              </a:rPr>
              <a:t>•  </a:t>
            </a:r>
            <a:r>
              <a:rPr sz="1600" b="1" i="0">
                <a:solidFill>
                  <a:srgbClr val="14241C"/>
                </a:solidFill>
                <a:latin typeface="Calibri"/>
              </a:rPr>
              <a:t>Home &amp; the five tabs</a:t>
            </a:r>
            <a:r>
              <a:rPr sz="1600" b="0" i="0">
                <a:solidFill>
                  <a:srgbClr val="14241C"/>
                </a:solidFill>
                <a:latin typeface="Calibri"/>
              </a:rPr>
              <a:t>  — how you get around</a:t>
            </a:r>
          </a:p>
          <a:p>
            <a:pPr algn="l">
              <a:lnSpc>
                <a:spcPct val="105000"/>
              </a:lnSpc>
              <a:spcBef>
                <a:spcPts val="0"/>
              </a:spcBef>
              <a:spcAft>
                <a:spcPts val="1000"/>
              </a:spcAft>
            </a:pPr>
            <a:r>
              <a:rPr sz="1600" b="1" i="0">
                <a:solidFill>
                  <a:srgbClr val="15503A"/>
                </a:solidFill>
                <a:latin typeface="Calibri"/>
              </a:rPr>
              <a:t>•  </a:t>
            </a:r>
            <a:r>
              <a:rPr sz="1600" b="1" i="0">
                <a:solidFill>
                  <a:srgbClr val="14241C"/>
                </a:solidFill>
                <a:latin typeface="Calibri"/>
              </a:rPr>
              <a:t>Family Fest</a:t>
            </a:r>
            <a:r>
              <a:rPr sz="1600" b="0" i="0">
                <a:solidFill>
                  <a:srgbClr val="14241C"/>
                </a:solidFill>
                <a:latin typeface="Calibri"/>
              </a:rPr>
              <a:t>  — the big week: schedule, RSVP, dinners, dues</a:t>
            </a:r>
          </a:p>
          <a:p>
            <a:pPr algn="l">
              <a:lnSpc>
                <a:spcPct val="105000"/>
              </a:lnSpc>
              <a:spcBef>
                <a:spcPts val="0"/>
              </a:spcBef>
              <a:spcAft>
                <a:spcPts val="1000"/>
              </a:spcAft>
            </a:pPr>
            <a:r>
              <a:rPr sz="1600" b="1" i="0">
                <a:solidFill>
                  <a:srgbClr val="15503A"/>
                </a:solidFill>
                <a:latin typeface="Calibri"/>
              </a:rPr>
              <a:t>•  </a:t>
            </a:r>
            <a:r>
              <a:rPr sz="1600" b="1" i="0">
                <a:solidFill>
                  <a:srgbClr val="14241C"/>
                </a:solidFill>
                <a:latin typeface="Calibri"/>
              </a:rPr>
              <a:t>Staying connected</a:t>
            </a:r>
            <a:r>
              <a:rPr sz="1600" b="0" i="0">
                <a:solidFill>
                  <a:srgbClr val="14241C"/>
                </a:solidFill>
                <a:latin typeface="Calibri"/>
              </a:rPr>
              <a:t>  — photos, finding &amp; paying people, asking for help</a:t>
            </a:r>
          </a:p>
          <a:p>
            <a:pPr algn="l">
              <a:lnSpc>
                <a:spcPct val="105000"/>
              </a:lnSpc>
              <a:spcBef>
                <a:spcPts val="0"/>
              </a:spcBef>
              <a:spcAft>
                <a:spcPts val="1000"/>
              </a:spcAft>
            </a:pPr>
            <a:r>
              <a:rPr sz="1600" b="1" i="0">
                <a:solidFill>
                  <a:srgbClr val="15503A"/>
                </a:solidFill>
                <a:latin typeface="Calibri"/>
              </a:rPr>
              <a:t>•  </a:t>
            </a:r>
            <a:r>
              <a:rPr sz="1600" b="1" i="0">
                <a:solidFill>
                  <a:srgbClr val="14241C"/>
                </a:solidFill>
                <a:latin typeface="Calibri"/>
              </a:rPr>
              <a:t>How to get it on your phone</a:t>
            </a:r>
            <a:r>
              <a:rPr sz="1600" b="0" i="0">
                <a:solidFill>
                  <a:srgbClr val="14241C"/>
                </a:solidFill>
                <a:latin typeface="Calibri"/>
              </a:rPr>
              <a:t>  — at the very end, together</a:t>
            </a:r>
          </a:p>
          <a:p>
            <a:pPr algn="l">
              <a:lnSpc>
                <a:spcPct val="105000"/>
              </a:lnSpc>
              <a:spcBef>
                <a:spcPts val="0"/>
              </a:spcBef>
              <a:spcAft>
                <a:spcPts val="1000"/>
              </a:spcAft>
            </a:pPr>
            <a:r>
              <a:rPr sz="1500" b="0" i="1">
                <a:solidFill>
                  <a:srgbClr val="6B7068"/>
                </a:solidFill>
                <a:latin typeface="Calibri"/>
              </a:rPr>
              <a:t>You don't have to do anything yet — just follow along.</a:t>
            </a:r>
          </a:p>
        </p:txBody>
      </p:sp>
      <p:sp>
        <p:nvSpPr>
          <p:cNvPr id="11" name="Rounded Rectangle 10"/>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6510528"/>
            <a:ext cx="72009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What it is &amp; why it exists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2</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WHAT IT IS &amp; WHY</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2 of 16</a:t>
            </a:r>
          </a:p>
        </p:txBody>
      </p:sp>
      <p:sp>
        <p:nvSpPr>
          <p:cNvPr id="8" name="TextBox 7"/>
          <p:cNvSpPr txBox="1"/>
          <p:nvPr/>
        </p:nvSpPr>
        <p:spPr>
          <a:xfrm>
            <a:off x="640080" y="1371600"/>
            <a:ext cx="10972800" cy="9144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200" b="1" i="0">
                <a:solidFill>
                  <a:srgbClr val="14241C"/>
                </a:solidFill>
                <a:latin typeface="Calibri"/>
              </a:rPr>
              <a:t>One home base for the whole family</a:t>
            </a:r>
          </a:p>
        </p:txBody>
      </p:sp>
      <p:sp>
        <p:nvSpPr>
          <p:cNvPr id="9" name="Rounded Rectangle 8"/>
          <p:cNvSpPr/>
          <p:nvPr/>
        </p:nvSpPr>
        <p:spPr>
          <a:xfrm>
            <a:off x="640080" y="2331720"/>
            <a:ext cx="10908792" cy="3566160"/>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6040"/>
            <a:ext cx="10149840" cy="3108960"/>
          </a:xfrm>
          <a:prstGeom prst="rect">
            <a:avLst/>
          </a:prstGeom>
          <a:noFill/>
        </p:spPr>
        <p:txBody>
          <a:bodyPr wrap="square" anchor="t" lIns="25400" rIns="25400" tIns="12700" bIns="12700">
            <a:spAutoFit/>
          </a:bodyPr>
          <a:lstStyle/>
          <a:p>
            <a:pPr algn="l">
              <a:lnSpc>
                <a:spcPct val="105000"/>
              </a:lnSpc>
              <a:spcBef>
                <a:spcPts val="0"/>
              </a:spcBef>
              <a:spcAft>
                <a:spcPts val="1000"/>
              </a:spcAft>
            </a:pPr>
            <a:r>
              <a:rPr sz="1700" b="1" i="0">
                <a:solidFill>
                  <a:srgbClr val="15503A"/>
                </a:solidFill>
                <a:latin typeface="Calibri"/>
              </a:rPr>
              <a:t>The problem:  </a:t>
            </a:r>
            <a:r>
              <a:rPr sz="1700" b="0" i="0">
                <a:solidFill>
                  <a:srgbClr val="14241C"/>
                </a:solidFill>
                <a:latin typeface="Calibri"/>
              </a:rPr>
              <a:t>plans live in texts, group chats, emails, and a dozen Google forms. Things get lost. New people don't know where to look.</a:t>
            </a:r>
          </a:p>
          <a:p>
            <a:pPr algn="l">
              <a:lnSpc>
                <a:spcPct val="105000"/>
              </a:lnSpc>
              <a:spcBef>
                <a:spcPts val="0"/>
              </a:spcBef>
              <a:spcAft>
                <a:spcPts val="1000"/>
              </a:spcAft>
            </a:pPr>
            <a:r>
              <a:rPr sz="1700" b="1" i="0">
                <a:solidFill>
                  <a:srgbClr val="15503A"/>
                </a:solidFill>
                <a:latin typeface="Calibri"/>
              </a:rPr>
              <a:t>The fix:  </a:t>
            </a:r>
            <a:r>
              <a:rPr sz="1700" b="0" i="0">
                <a:solidFill>
                  <a:srgbClr val="14241C"/>
                </a:solidFill>
                <a:latin typeface="Calibri"/>
              </a:rPr>
              <a:t>one place — schedule, who's coming, photos, who to pay, how to reach anyone, and everything Family Fest, all in your pocket.</a:t>
            </a:r>
          </a:p>
          <a:p>
            <a:pPr algn="l">
              <a:lnSpc>
                <a:spcPct val="105000"/>
              </a:lnSpc>
              <a:spcBef>
                <a:spcPts val="0"/>
              </a:spcBef>
              <a:spcAft>
                <a:spcPts val="1000"/>
              </a:spcAft>
            </a:pPr>
            <a:r>
              <a:rPr sz="1700" b="1" i="0">
                <a:solidFill>
                  <a:srgbClr val="15503A"/>
                </a:solidFill>
                <a:latin typeface="Calibri"/>
              </a:rPr>
              <a:t>Two jobs:  </a:t>
            </a:r>
            <a:r>
              <a:rPr sz="1700" b="0" i="0">
                <a:solidFill>
                  <a:srgbClr val="14241C"/>
                </a:solidFill>
                <a:latin typeface="Calibri"/>
              </a:rPr>
              <a:t>(1) the resort, year-round — fishing, cabins, local spots.  (2) Family Fest — the one week the whole clan shows up.</a:t>
            </a:r>
          </a:p>
          <a:p>
            <a:pPr algn="l">
              <a:lnSpc>
                <a:spcPct val="105000"/>
              </a:lnSpc>
              <a:spcBef>
                <a:spcPts val="0"/>
              </a:spcBef>
              <a:spcAft>
                <a:spcPts val="1000"/>
              </a:spcAft>
            </a:pPr>
            <a:r>
              <a:rPr sz="1500" b="0" i="1">
                <a:solidFill>
                  <a:srgbClr val="6B7068"/>
                </a:solidFill>
                <a:latin typeface="Calibri"/>
              </a:rPr>
              <a:t>It's a web app — no app store, works on any phone, tablet, or computer, and you can add it to your home screen like a real app.</a:t>
            </a:r>
          </a:p>
        </p:txBody>
      </p:sp>
      <p:sp>
        <p:nvSpPr>
          <p:cNvPr id="11" name="Rounded Rectangle 10"/>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6510528"/>
            <a:ext cx="144018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Set the ground rule for the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C2410C"/>
                </a:solidFill>
                <a:latin typeface="Calibri"/>
              </a:rPr>
              <a:t>STEP 3</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HOW TO FOLLOW ALONG</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3 of 16</a:t>
            </a:r>
          </a:p>
        </p:txBody>
      </p:sp>
      <p:sp>
        <p:nvSpPr>
          <p:cNvPr id="8" name="TextBox 7"/>
          <p:cNvSpPr txBox="1"/>
          <p:nvPr/>
        </p:nvSpPr>
        <p:spPr>
          <a:xfrm>
            <a:off x="640080" y="1371600"/>
            <a:ext cx="10972800" cy="9144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200" b="1" i="0">
                <a:solidFill>
                  <a:srgbClr val="14241C"/>
                </a:solidFill>
                <a:latin typeface="Calibri"/>
              </a:rPr>
              <a:t>You don't need an account to look</a:t>
            </a:r>
          </a:p>
        </p:txBody>
      </p:sp>
      <p:sp>
        <p:nvSpPr>
          <p:cNvPr id="9" name="Rounded Rectangle 8"/>
          <p:cNvSpPr/>
          <p:nvPr/>
        </p:nvSpPr>
        <p:spPr>
          <a:xfrm>
            <a:off x="640080" y="2331720"/>
            <a:ext cx="10908792" cy="3566160"/>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6040"/>
            <a:ext cx="10149840" cy="3108960"/>
          </a:xfrm>
          <a:prstGeom prst="rect">
            <a:avLst/>
          </a:prstGeom>
          <a:noFill/>
        </p:spPr>
        <p:txBody>
          <a:bodyPr wrap="square" anchor="t" lIns="25400" rIns="25400" tIns="12700" bIns="12700">
            <a:spAutoFit/>
          </a:bodyPr>
          <a:lstStyle/>
          <a:p>
            <a:pPr algn="l">
              <a:lnSpc>
                <a:spcPct val="105000"/>
              </a:lnSpc>
              <a:spcBef>
                <a:spcPts val="0"/>
              </a:spcBef>
              <a:spcAft>
                <a:spcPts val="1000"/>
              </a:spcAft>
            </a:pPr>
            <a:r>
              <a:rPr sz="1900" b="1" i="0">
                <a:solidFill>
                  <a:srgbClr val="C2410C"/>
                </a:solidFill>
                <a:latin typeface="Calibri"/>
              </a:rPr>
              <a:t>Good news:  </a:t>
            </a:r>
            <a:r>
              <a:rPr sz="1900" b="0" i="0">
                <a:solidFill>
                  <a:srgbClr val="14241C"/>
                </a:solidFill>
                <a:latin typeface="Calibri"/>
              </a:rPr>
              <a:t>you can open and browse the whole app without signing in.</a:t>
            </a:r>
          </a:p>
          <a:p>
            <a:pPr algn="l">
              <a:lnSpc>
                <a:spcPct val="105000"/>
              </a:lnSpc>
              <a:spcBef>
                <a:spcPts val="0"/>
              </a:spcBef>
              <a:spcAft>
                <a:spcPts val="1000"/>
              </a:spcAft>
            </a:pPr>
            <a:r>
              <a:rPr sz="1900" b="1" i="0">
                <a:solidFill>
                  <a:srgbClr val="14241C"/>
                </a:solidFill>
                <a:latin typeface="Calibri"/>
              </a:rPr>
              <a:t>So just watch for now</a:t>
            </a:r>
            <a:r>
              <a:rPr sz="1900" b="0" i="0">
                <a:solidFill>
                  <a:srgbClr val="14241C"/>
                </a:solidFill>
                <a:latin typeface="Calibri"/>
              </a:rPr>
              <a:t>  — no need to grab your phone yet.</a:t>
            </a:r>
          </a:p>
          <a:p>
            <a:pPr algn="l">
              <a:lnSpc>
                <a:spcPct val="105000"/>
              </a:lnSpc>
              <a:spcBef>
                <a:spcPts val="0"/>
              </a:spcBef>
              <a:spcAft>
                <a:spcPts val="1000"/>
              </a:spcAft>
            </a:pPr>
            <a:r>
              <a:rPr sz="1600" b="0" i="1">
                <a:solidFill>
                  <a:srgbClr val="6B7068"/>
                </a:solidFill>
                <a:latin typeface="Calibri"/>
              </a:rPr>
              <a:t>At the very end I'll show you how to add it to your phone and sign in — and we'll do it together.</a:t>
            </a:r>
          </a:p>
        </p:txBody>
      </p:sp>
      <p:sp>
        <p:nvSpPr>
          <p:cNvPr id="11" name="Rounded Rectangle 10"/>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6510528"/>
            <a:ext cx="2160270" cy="63500"/>
          </a:xfrm>
          <a:prstGeom prst="roundRect">
            <a:avLst>
              <a:gd name="adj" fmla="val 6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The 5 tabs at the bottom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4</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The 5 tabs at the bottom</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4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The bar across the bottom of every screen</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Everything lives behind these five buttons at the bottom — that's the whole app.</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 Home</a:t>
            </a:r>
            <a:r>
              <a:rPr sz="1600" b="0" i="0">
                <a:solidFill>
                  <a:srgbClr val="14241C"/>
                </a:solidFill>
                <a:latin typeface="Calibri"/>
              </a:rPr>
              <a:t> — what's happening now + shortcuts to everything</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 Feed</a:t>
            </a:r>
            <a:r>
              <a:rPr sz="1600" b="0" i="0">
                <a:solidFill>
                  <a:srgbClr val="14241C"/>
                </a:solidFill>
                <a:latin typeface="Calibri"/>
              </a:rPr>
              <a:t> — family photos &amp; posts, and committee chat</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 Family Fest</a:t>
            </a:r>
            <a:r>
              <a:rPr sz="1600" b="0" i="0">
                <a:solidFill>
                  <a:srgbClr val="14241C"/>
                </a:solidFill>
                <a:latin typeface="Calibri"/>
              </a:rPr>
              <a:t> — the full week — schedule, RSVP, dues, shirts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 Activity</a:t>
            </a:r>
            <a:r>
              <a:rPr sz="1600" b="0" i="0">
                <a:solidFill>
                  <a:srgbClr val="14241C"/>
                </a:solidFill>
                <a:latin typeface="Calibri"/>
              </a:rPr>
              <a:t> — your notifications — comments, mentions, alerts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 Profile</a:t>
            </a:r>
            <a:r>
              <a:rPr sz="1600" b="0" i="0">
                <a:solidFill>
                  <a:srgbClr val="14241C"/>
                </a:solidFill>
                <a:latin typeface="Calibri"/>
              </a:rPr>
              <a:t> — your name, settings, sign-in, text size</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“People, Events, Pay, Local Places live on the Home screen — I'll show those too.”</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288036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A quick tour of the Home screen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5</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The Home screen</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5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Home tab  (the cabin logo at the bottom-left)</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Home always shows what matters right now — you'll usually start here.</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The logo up top</a:t>
            </a:r>
            <a:r>
              <a:rPr sz="1600" b="0" i="0">
                <a:solidFill>
                  <a:srgbClr val="14241C"/>
                </a:solidFill>
                <a:latin typeface="Calibri"/>
              </a:rPr>
              <a:t> — tap it anytime to come back home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Family Fest spotlight</a:t>
            </a:r>
            <a:r>
              <a:rPr sz="1600" b="0" i="0">
                <a:solidFill>
                  <a:srgbClr val="14241C"/>
                </a:solidFill>
                <a:latin typeface="Calibri"/>
              </a:rPr>
              <a:t> — a live countdown to July 27 right now</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What's happening cards</a:t>
            </a:r>
            <a:r>
              <a:rPr sz="1600" b="0" i="0">
                <a:solidFill>
                  <a:srgbClr val="14241C"/>
                </a:solidFill>
                <a:latin typeface="Calibri"/>
              </a:rPr>
              <a:t> — swipe-away call-outs like the t-shirt vote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Next event + RSVP</a:t>
            </a:r>
            <a:r>
              <a:rPr sz="1600" b="0" i="0">
                <a:solidFill>
                  <a:srgbClr val="14241C"/>
                </a:solidFill>
                <a:latin typeface="Calibri"/>
              </a:rPr>
              <a:t> — the closest gathering, one tap to say you're in</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Tiles</a:t>
            </a:r>
            <a:r>
              <a:rPr sz="1600" b="0" i="0">
                <a:solidFill>
                  <a:srgbClr val="14241C"/>
                </a:solidFill>
                <a:latin typeface="Calibri"/>
              </a:rPr>
              <a:t> — Get involved, Ask for Help, People, cabins, local places</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“We're ~4 weeks out, so it's in 'planning' mode — during Fest week it flips to a day-by-day view.”</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360045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Family Fest — the big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8B2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8B2E2E"/>
                </a:solidFill>
                <a:latin typeface="Calibri"/>
              </a:rPr>
              <a:t>STEP 6</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Family Fest — the centerpiece</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6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Family Fest tab  →  Schedule</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This is the heart of it — Family Fest is July 27 to 31, the whole clan at the lake.</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July 27–31, 2026</a:t>
            </a:r>
            <a:r>
              <a:rPr sz="1600" b="0" i="0">
                <a:solidFill>
                  <a:srgbClr val="14241C"/>
                </a:solidFill>
                <a:latin typeface="Calibri"/>
              </a:rPr>
              <a:t> — “Ye Olde Family Feste” theme this year</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Signature nights</a:t>
            </a:r>
            <a:r>
              <a:rPr sz="1600" b="0" i="0">
                <a:solidFill>
                  <a:srgbClr val="14241C"/>
                </a:solidFill>
                <a:latin typeface="Calibri"/>
              </a:rPr>
              <a:t> — Mon bonfire, Wed musky tournament, Thu talent show, Fri fireworks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Dinners each night</a:t>
            </a:r>
            <a:r>
              <a:rPr sz="1600" b="0" i="0">
                <a:solidFill>
                  <a:srgbClr val="14241C"/>
                </a:solidFill>
                <a:latin typeface="Calibri"/>
              </a:rPr>
              <a:t> — chefs: Jessica, Natalie &amp; Karen, Lauren, Rob &amp; Joe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All-week fun</a:t>
            </a:r>
            <a:r>
              <a:rPr sz="1600" b="0" i="0">
                <a:solidFill>
                  <a:srgbClr val="14241C"/>
                </a:solidFill>
                <a:latin typeface="Calibri"/>
              </a:rPr>
              <a:t> — scavenger hunt, lake day, golf outing, games up top</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Sub-nav up top</a:t>
            </a:r>
            <a:r>
              <a:rPr sz="1600" b="0" i="0">
                <a:solidFill>
                  <a:srgbClr val="14241C"/>
                </a:solidFill>
                <a:latin typeface="Calibri"/>
              </a:rPr>
              <a:t> — Schedule · Dinners · Crew · Photos · Pay · Shirts</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“$100 per adult for the week; kids' price still being set.”</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4320540" cy="63500"/>
          </a:xfrm>
          <a:prstGeom prst="roundRect">
            <a:avLst>
              <a:gd name="adj" fmla="val 6000"/>
            </a:avLst>
          </a:prstGeom>
          <a:solidFill>
            <a:srgbClr val="8B2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RSVP — let people know you're coming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7</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Events &amp; RSVP</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7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Events  (or the event spotlight on Home)  →  tap a card</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Tap any event and tell us if you're coming — it's like Facebook events.</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Three taps</a:t>
            </a:r>
            <a:r>
              <a:rPr sz="1600" b="0" i="0">
                <a:solidFill>
                  <a:srgbClr val="14241C"/>
                </a:solidFill>
                <a:latin typeface="Calibri"/>
              </a:rPr>
              <a:t> — Going, Maybe, or Can't make — that's it</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See who's coming</a:t>
            </a:r>
            <a:r>
              <a:rPr sz="1600" b="0" i="0">
                <a:solidFill>
                  <a:srgbClr val="14241C"/>
                </a:solidFill>
                <a:latin typeface="Calibri"/>
              </a:rPr>
              <a:t> — the whole list of who RSVP'd</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Family Fest is per-day</a:t>
            </a:r>
            <a:r>
              <a:rPr sz="1600" b="0" i="0">
                <a:solidFill>
                  <a:srgbClr val="14241C"/>
                </a:solidFill>
                <a:latin typeface="Calibri"/>
              </a:rPr>
              <a:t> — pick the exact days you'll be there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Other events too</a:t>
            </a:r>
            <a:r>
              <a:rPr sz="1600" b="0" i="0">
                <a:solidFill>
                  <a:srgbClr val="14241C"/>
                </a:solidFill>
                <a:latin typeface="Calibri"/>
              </a:rPr>
              <a:t> — e.g. Up North for the 4th, July 3–5</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“Change your answer anytime — just tap a different button.”</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504063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The Feed — photos &amp; updates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8</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The Feed — photos &amp; updates</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8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Feed tab</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This is our family wall — post a photo, everyone sees it, like and comment.</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Post anything</a:t>
            </a:r>
            <a:r>
              <a:rPr sz="1600" b="0" i="0">
                <a:solidFill>
                  <a:srgbClr val="14241C"/>
                </a:solidFill>
                <a:latin typeface="Calibri"/>
              </a:rPr>
              <a:t> — “First musky of the season,” sunset off the dock</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Like &amp; comment</a:t>
            </a:r>
            <a:r>
              <a:rPr sz="1600" b="0" i="0">
                <a:solidFill>
                  <a:srgbClr val="14241C"/>
                </a:solidFill>
                <a:latin typeface="Calibri"/>
              </a:rPr>
              <a:t> — tag people with @name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Private to family</a:t>
            </a:r>
            <a:r>
              <a:rPr sz="1600" b="0" i="0">
                <a:solidFill>
                  <a:srgbClr val="14241C"/>
                </a:solidFill>
                <a:latin typeface="Calibri"/>
              </a:rPr>
              <a:t> — not public, not strangers — just us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Real examples</a:t>
            </a:r>
            <a:r>
              <a:rPr sz="1600" b="0" i="0">
                <a:solidFill>
                  <a:srgbClr val="14241C"/>
                </a:solidFill>
                <a:latin typeface="Calibri"/>
              </a:rPr>
              <a:t> — Grandpa's musky, Aunt Linda's countdown post</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“Anything inappropriate gets held for review automatically — it's a family-safe space.”</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576072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People — find &amp; reach anyone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9</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People — find &amp; reach anyone</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9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Home  →  People</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The whole family directory — text, call, or pay anyone in two taps.</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Searchable list</a:t>
            </a:r>
            <a:r>
              <a:rPr sz="1600" b="0" i="0">
                <a:solidFill>
                  <a:srgbClr val="14241C"/>
                </a:solidFill>
                <a:latin typeface="Calibri"/>
              </a:rPr>
              <a:t> — everyone with an account, by name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Quick buttons</a:t>
            </a:r>
            <a:r>
              <a:rPr sz="1600" b="0" i="0">
                <a:solidFill>
                  <a:srgbClr val="14241C"/>
                </a:solidFill>
                <a:latin typeface="Calibri"/>
              </a:rPr>
              <a:t> — Text · Call · Pay right on each person</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Tap through</a:t>
            </a:r>
            <a:r>
              <a:rPr sz="1600" b="0" i="0">
                <a:solidFill>
                  <a:srgbClr val="14241C"/>
                </a:solidFill>
                <a:latin typeface="Calibri"/>
              </a:rPr>
              <a:t> — their full profile + how they prefer to be paid</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Email a group</a:t>
            </a:r>
            <a:r>
              <a:rPr sz="1600" b="0" i="0">
                <a:solidFill>
                  <a:srgbClr val="14241C"/>
                </a:solidFill>
                <a:latin typeface="Calibri"/>
              </a:rPr>
              <a:t> — send a note to a whole set of people at once</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“Full contact info only shows once you're signed in — guests see first names only.”</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648081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Committees &amp; private chat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10</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Committees &amp; chat</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10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Home  →  Get involved  →  a committee</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Family Fest is run by volunteers — five teams, and each has its own group chat.</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Meals</a:t>
            </a:r>
            <a:r>
              <a:rPr sz="1600" b="0" i="0">
                <a:solidFill>
                  <a:srgbClr val="14241C"/>
                </a:solidFill>
                <a:latin typeface="Calibri"/>
              </a:rPr>
              <a:t> — lead: Lauren Zerfas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Entertainment &amp; Games</a:t>
            </a:r>
            <a:r>
              <a:rPr sz="1600" b="0" i="0">
                <a:solidFill>
                  <a:srgbClr val="14241C"/>
                </a:solidFill>
                <a:latin typeface="Calibri"/>
              </a:rPr>
              <a:t> — lead: Keith Thibodeau</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Art &amp; Decorating</a:t>
            </a:r>
            <a:r>
              <a:rPr sz="1600" b="0" i="0">
                <a:solidFill>
                  <a:srgbClr val="14241C"/>
                </a:solidFill>
                <a:latin typeface="Calibri"/>
              </a:rPr>
              <a:t> — lead: Jenny Snively</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Merch &amp; Fundraising / Logistics</a:t>
            </a:r>
            <a:r>
              <a:rPr sz="1600" b="0" i="0">
                <a:solidFill>
                  <a:srgbClr val="14241C"/>
                </a:solidFill>
                <a:latin typeface="Calibri"/>
              </a:rPr>
              <a:t> — leads: Rick Gorge / Cathy Hofer</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Private chat per team</a:t>
            </a:r>
            <a:r>
              <a:rPr sz="1600" b="0" i="0">
                <a:solidFill>
                  <a:srgbClr val="14241C"/>
                </a:solidFill>
                <a:latin typeface="Calibri"/>
              </a:rPr>
              <a:t> — real-time, only your committee sees it</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“Want to help? Join a committee right here and you're in the chat.”</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720090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Ask for Help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11</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Ask for Help</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11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Home  →  Ask for Help</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At the lake and need a hand? Post it, and people nearby get a ping.</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Post a need</a:t>
            </a:r>
            <a:r>
              <a:rPr sz="1600" b="0" i="0">
                <a:solidFill>
                  <a:srgbClr val="14241C"/>
                </a:solidFill>
                <a:latin typeface="Calibri"/>
              </a:rPr>
              <a:t> — moving tables, a ride, supplies, an extra set of hands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Helpers respond</a:t>
            </a:r>
            <a:r>
              <a:rPr sz="1600" b="0" i="0">
                <a:solidFill>
                  <a:srgbClr val="14241C"/>
                </a:solidFill>
                <a:latin typeface="Calibri"/>
              </a:rPr>
              <a:t> — one tap: “On my way”</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What to bring</a:t>
            </a:r>
            <a:r>
              <a:rPr sz="1600" b="0" i="0">
                <a:solidFill>
                  <a:srgbClr val="14241C"/>
                </a:solidFill>
                <a:latin typeface="Calibri"/>
              </a:rPr>
              <a:t> — list items; helpers claim what they'll grab</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Urgent option</a:t>
            </a:r>
            <a:r>
              <a:rPr sz="1600" b="0" i="0">
                <a:solidFill>
                  <a:srgbClr val="14241C"/>
                </a:solidFill>
                <a:latin typeface="Calibri"/>
              </a:rPr>
              <a:t> — 🚨 alerts everyone, for real emergencies</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“It's in beta right now — we're testing it during Fest week.”</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792099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Paying dues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12</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Paying dues</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12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Family Fest tab  →  Pay</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Dues are $100 an adult — pay right from here with Venmo or Zelle.</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See who &amp; how</a:t>
            </a:r>
            <a:r>
              <a:rPr sz="1600" b="0" i="0">
                <a:solidFill>
                  <a:srgbClr val="14241C"/>
                </a:solidFill>
                <a:latin typeface="Calibri"/>
              </a:rPr>
              <a:t> — Cathy Hofer collects; Venmo preferred, Zelle works too</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One tap opens</a:t>
            </a:r>
            <a:r>
              <a:rPr sz="1600" b="0" i="0">
                <a:solidFill>
                  <a:srgbClr val="14241C"/>
                </a:solidFill>
                <a:latin typeface="Calibri"/>
              </a:rPr>
              <a:t> — your Venmo/Zelle app with the handle ready</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Nothing stored</a:t>
            </a:r>
            <a:r>
              <a:rPr sz="1600" b="0" i="0">
                <a:solidFill>
                  <a:srgbClr val="14241C"/>
                </a:solidFill>
                <a:latin typeface="Calibri"/>
              </a:rPr>
              <a:t> — the app never holds your card or bank info</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$100 / adult</a:t>
            </a:r>
            <a:r>
              <a:rPr sz="1600" b="0" i="0">
                <a:solidFill>
                  <a:srgbClr val="14241C"/>
                </a:solidFill>
                <a:latin typeface="Calibri"/>
              </a:rPr>
              <a:t> — kids' pricing being finalized</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“The app just hands you off to Venmo — your money stays in your own apps.”</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864108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Notifications &amp; push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13</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Notifications &amp; alerts</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13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Activity tab (bell)  ·  Profile  →  Notifications</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The bell tab is everything that happened involving you — and you control what pings your phone.</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Activity feed</a:t>
            </a:r>
            <a:r>
              <a:rPr sz="1600" b="0" i="0">
                <a:solidFill>
                  <a:srgbClr val="14241C"/>
                </a:solidFill>
                <a:latin typeface="Calibri"/>
              </a:rPr>
              <a:t> — comments, @mentions, reactions, approvals, alerts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Red badge</a:t>
            </a:r>
            <a:r>
              <a:rPr sz="1600" b="0" i="0">
                <a:solidFill>
                  <a:srgbClr val="14241C"/>
                </a:solidFill>
                <a:latin typeface="Calibri"/>
              </a:rPr>
              <a:t> — shows when something's new</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Push to your phone</a:t>
            </a:r>
            <a:r>
              <a:rPr sz="1600" b="0" i="0">
                <a:solidFill>
                  <a:srgbClr val="14241C"/>
                </a:solidFill>
                <a:latin typeface="Calibri"/>
              </a:rPr>
              <a:t> — turn on alerts you care about, mute the rest</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Admin announcements</a:t>
            </a:r>
            <a:r>
              <a:rPr sz="1600" b="0" i="0">
                <a:solidFill>
                  <a:srgbClr val="14241C"/>
                </a:solidFill>
                <a:latin typeface="Calibri"/>
              </a:rPr>
              <a:t> — important notices reach everyone</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“You pick exactly what notifies you — you won't get spammed.”</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936117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How to get it + sign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C2410C"/>
                </a:solidFill>
                <a:latin typeface="Calibri"/>
              </a:rPr>
              <a:t>STEP 14</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How to get it + sign in</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14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Profile  →  add name &amp; email  ·  then Add to Home Screen</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Okay — now let's all get it. It takes about a minute and there's no password.</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Open the link</a:t>
            </a:r>
            <a:r>
              <a:rPr sz="1600" b="0" i="0">
                <a:solidFill>
                  <a:srgbClr val="14241C"/>
                </a:solidFill>
                <a:latin typeface="Calibri"/>
              </a:rPr>
              <a:t> — (share the URL / QR you have ready)</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Add to Home Screen</a:t>
            </a:r>
            <a:r>
              <a:rPr sz="1600" b="0" i="0">
                <a:solidFill>
                  <a:srgbClr val="14241C"/>
                </a:solidFill>
                <a:latin typeface="Calibri"/>
              </a:rPr>
              <a:t> — makes it a tap-to-open icon like a real app</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Enter name + email</a:t>
            </a:r>
            <a:r>
              <a:rPr sz="1600" b="0" i="0">
                <a:solidFill>
                  <a:srgbClr val="14241C"/>
                </a:solidFill>
                <a:latin typeface="Calibri"/>
              </a:rPr>
              <a:t> — we email you a 6-digit code — no password ever</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Type the code back</a:t>
            </a:r>
            <a:r>
              <a:rPr sz="1600" b="0" i="0">
                <a:solidFill>
                  <a:srgbClr val="14241C"/>
                </a:solidFill>
                <a:latin typeface="Calibri"/>
              </a:rPr>
              <a:t> — that's it — you stay signed in on your phone</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“Didn't get the code? Check spam, or tap Resend. There's a Help page too.”</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10081260" cy="63500"/>
          </a:xfrm>
          <a:prstGeom prst="roundRect">
            <a:avLst>
              <a:gd name="adj" fmla="val 6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Privacy, safety &amp; help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15</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Privacy, safety &amp; help</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15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Profile  →  Text size  ·  Help page</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It's just us — family only — and we made it easy for every age to use.</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Family only</a:t>
            </a:r>
            <a:r>
              <a:rPr sz="1600" b="0" i="0">
                <a:solidFill>
                  <a:srgbClr val="14241C"/>
                </a:solidFill>
                <a:latin typeface="Calibri"/>
              </a:rPr>
              <a:t> — not public; sensitive info hidden until you sign in</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Bigger text</a:t>
            </a:r>
            <a:r>
              <a:rPr sz="1600" b="0" i="0">
                <a:solidFill>
                  <a:srgbClr val="14241C"/>
                </a:solidFill>
                <a:latin typeface="Calibri"/>
              </a:rPr>
              <a:t> — Profile → Text size: Normal / Large / Largest</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Help page</a:t>
            </a:r>
            <a:r>
              <a:rPr sz="1600" b="0" i="0">
                <a:solidFill>
                  <a:srgbClr val="14241C"/>
                </a:solidFill>
                <a:latin typeface="Calibri"/>
              </a:rPr>
              <a:t> — plain-language how-tos for anyone stuck</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 real person</a:t>
            </a:r>
            <a:r>
              <a:rPr sz="1600" b="0" i="0">
                <a:solidFill>
                  <a:srgbClr val="14241C"/>
                </a:solidFill>
                <a:latin typeface="Calibri"/>
              </a:rPr>
              <a:t> — text or call me (Brian) anytime — it's on the Help page</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“No strangers, no ads, no selling anything. It's our family's app.”</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1080135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What to do right now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C2410C"/>
                </a:solidFill>
                <a:latin typeface="Calibri"/>
              </a:rPr>
              <a:t>STEP 16</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BEFORE YOU LEAVE</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16 of 16</a:t>
            </a:r>
          </a:p>
        </p:txBody>
      </p:sp>
      <p:sp>
        <p:nvSpPr>
          <p:cNvPr id="8" name="TextBox 7"/>
          <p:cNvSpPr txBox="1"/>
          <p:nvPr/>
        </p:nvSpPr>
        <p:spPr>
          <a:xfrm>
            <a:off x="640080" y="1371600"/>
            <a:ext cx="10972800" cy="9144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200" b="1" i="0">
                <a:solidFill>
                  <a:srgbClr val="14241C"/>
                </a:solidFill>
                <a:latin typeface="Calibri"/>
              </a:rPr>
              <a:t>Three things to do right now</a:t>
            </a:r>
          </a:p>
        </p:txBody>
      </p:sp>
      <p:sp>
        <p:nvSpPr>
          <p:cNvPr id="9" name="Rounded Rectangle 8"/>
          <p:cNvSpPr/>
          <p:nvPr/>
        </p:nvSpPr>
        <p:spPr>
          <a:xfrm>
            <a:off x="640080" y="2331720"/>
            <a:ext cx="10908792" cy="3566160"/>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6040"/>
            <a:ext cx="10149840" cy="3108960"/>
          </a:xfrm>
          <a:prstGeom prst="rect">
            <a:avLst/>
          </a:prstGeom>
          <a:noFill/>
        </p:spPr>
        <p:txBody>
          <a:bodyPr wrap="square" anchor="t" lIns="25400" rIns="25400" tIns="12700" bIns="12700">
            <a:spAutoFit/>
          </a:bodyPr>
          <a:lstStyle/>
          <a:p>
            <a:pPr algn="l">
              <a:lnSpc>
                <a:spcPct val="105000"/>
              </a:lnSpc>
              <a:spcBef>
                <a:spcPts val="0"/>
              </a:spcBef>
              <a:spcAft>
                <a:spcPts val="1000"/>
              </a:spcAft>
            </a:pPr>
            <a:r>
              <a:rPr sz="2000" b="1" i="0">
                <a:solidFill>
                  <a:srgbClr val="C2410C"/>
                </a:solidFill>
                <a:latin typeface="Calibri"/>
              </a:rPr>
              <a:t>1.  </a:t>
            </a:r>
            <a:r>
              <a:rPr sz="2000" b="1" i="0">
                <a:solidFill>
                  <a:srgbClr val="14241C"/>
                </a:solidFill>
                <a:latin typeface="Calibri"/>
              </a:rPr>
              <a:t>Add it to your home screen</a:t>
            </a:r>
            <a:r>
              <a:rPr sz="2000" b="0" i="0">
                <a:solidFill>
                  <a:srgbClr val="14241C"/>
                </a:solidFill>
                <a:latin typeface="Calibri"/>
              </a:rPr>
              <a:t>  — so it's one tap away.</a:t>
            </a:r>
          </a:p>
          <a:p>
            <a:pPr algn="l">
              <a:lnSpc>
                <a:spcPct val="105000"/>
              </a:lnSpc>
              <a:spcBef>
                <a:spcPts val="0"/>
              </a:spcBef>
              <a:spcAft>
                <a:spcPts val="1000"/>
              </a:spcAft>
            </a:pPr>
            <a:r>
              <a:rPr sz="2000" b="1" i="0">
                <a:solidFill>
                  <a:srgbClr val="C2410C"/>
                </a:solidFill>
                <a:latin typeface="Calibri"/>
              </a:rPr>
              <a:t>2.  </a:t>
            </a:r>
            <a:r>
              <a:rPr sz="2000" b="1" i="0">
                <a:solidFill>
                  <a:srgbClr val="14241C"/>
                </a:solidFill>
                <a:latin typeface="Calibri"/>
              </a:rPr>
              <a:t>Sign in with your email</a:t>
            </a:r>
            <a:r>
              <a:rPr sz="2000" b="0" i="0">
                <a:solidFill>
                  <a:srgbClr val="14241C"/>
                </a:solidFill>
                <a:latin typeface="Calibri"/>
              </a:rPr>
              <a:t>  — name + the 6-digit code, no password.</a:t>
            </a:r>
          </a:p>
          <a:p>
            <a:pPr algn="l">
              <a:lnSpc>
                <a:spcPct val="105000"/>
              </a:lnSpc>
              <a:spcBef>
                <a:spcPts val="0"/>
              </a:spcBef>
              <a:spcAft>
                <a:spcPts val="1000"/>
              </a:spcAft>
            </a:pPr>
            <a:r>
              <a:rPr sz="2000" b="1" i="0">
                <a:solidFill>
                  <a:srgbClr val="C2410C"/>
                </a:solidFill>
                <a:latin typeface="Calibri"/>
              </a:rPr>
              <a:t>3.  </a:t>
            </a:r>
            <a:r>
              <a:rPr sz="2000" b="1" i="0">
                <a:solidFill>
                  <a:srgbClr val="14241C"/>
                </a:solidFill>
                <a:latin typeface="Calibri"/>
              </a:rPr>
              <a:t>RSVP to Family Fest</a:t>
            </a:r>
            <a:r>
              <a:rPr sz="2000" b="0" i="0">
                <a:solidFill>
                  <a:srgbClr val="14241C"/>
                </a:solidFill>
                <a:latin typeface="Calibri"/>
              </a:rPr>
              <a:t>  — tell us which days, July 27–31.</a:t>
            </a:r>
          </a:p>
          <a:p>
            <a:pPr algn="l">
              <a:lnSpc>
                <a:spcPct val="105000"/>
              </a:lnSpc>
              <a:spcBef>
                <a:spcPts val="0"/>
              </a:spcBef>
              <a:spcAft>
                <a:spcPts val="1000"/>
              </a:spcAft>
            </a:pPr>
            <a:r>
              <a:rPr sz="1800" b="1" i="0">
                <a:solidFill>
                  <a:srgbClr val="15503A"/>
                </a:solidFill>
                <a:latin typeface="Calibri"/>
              </a:rPr>
              <a:t>“Do those three today and you're all set. Post a photo this week so we know it's working — and I'm right here if anyone gets stuck.”</a:t>
            </a:r>
          </a:p>
        </p:txBody>
      </p:sp>
      <p:sp>
        <p:nvSpPr>
          <p:cNvPr id="11" name="Rounded Rectangle 10"/>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6510528"/>
            <a:ext cx="11521440" cy="63500"/>
          </a:xfrm>
          <a:prstGeom prst="roundRect">
            <a:avLst>
              <a:gd name="adj" fmla="val 6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Quick facts (for Q&amp;A)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C4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97280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Quick facts  ·  for live Q&amp;A</a:t>
            </a:r>
          </a:p>
        </p:txBody>
      </p:sp>
      <p:sp>
        <p:nvSpPr>
          <p:cNvPr id="5" name="Rounded Rectangle 4"/>
          <p:cNvSpPr/>
          <p:nvPr/>
        </p:nvSpPr>
        <p:spPr>
          <a:xfrm>
            <a:off x="457200" y="1371600"/>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481328"/>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Family Fest 2026</a:t>
            </a:r>
          </a:p>
        </p:txBody>
      </p:sp>
      <p:sp>
        <p:nvSpPr>
          <p:cNvPr id="7" name="TextBox 6"/>
          <p:cNvSpPr txBox="1"/>
          <p:nvPr/>
        </p:nvSpPr>
        <p:spPr>
          <a:xfrm>
            <a:off x="685800" y="1874520"/>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July 27–31 (Mon–Fri) · “Ye Olde Family Feste” · $100/adult</a:t>
            </a:r>
          </a:p>
        </p:txBody>
      </p:sp>
      <p:sp>
        <p:nvSpPr>
          <p:cNvPr id="8" name="Rounded Rectangle 7"/>
          <p:cNvSpPr/>
          <p:nvPr/>
        </p:nvSpPr>
        <p:spPr>
          <a:xfrm>
            <a:off x="457200" y="2596896"/>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06624"/>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Where</a:t>
            </a:r>
          </a:p>
        </p:txBody>
      </p:sp>
      <p:sp>
        <p:nvSpPr>
          <p:cNvPr id="10" name="TextBox 9"/>
          <p:cNvSpPr txBox="1"/>
          <p:nvPr/>
        </p:nvSpPr>
        <p:spPr>
          <a:xfrm>
            <a:off x="685800" y="3099816"/>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Muskellunge Lake Resort, Tomahawk WI · Hwy 8, in the family since 1959</a:t>
            </a:r>
          </a:p>
        </p:txBody>
      </p:sp>
      <p:sp>
        <p:nvSpPr>
          <p:cNvPr id="11" name="Rounded Rectangle 10"/>
          <p:cNvSpPr/>
          <p:nvPr/>
        </p:nvSpPr>
        <p:spPr>
          <a:xfrm>
            <a:off x="457200" y="3822192"/>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931920"/>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Sign-in</a:t>
            </a:r>
          </a:p>
        </p:txBody>
      </p:sp>
      <p:sp>
        <p:nvSpPr>
          <p:cNvPr id="13" name="TextBox 12"/>
          <p:cNvSpPr txBox="1"/>
          <p:nvPr/>
        </p:nvSpPr>
        <p:spPr>
          <a:xfrm>
            <a:off x="685800" y="4325112"/>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Email a 6-digit code — no password. Browsing needs no account.</a:t>
            </a:r>
          </a:p>
        </p:txBody>
      </p:sp>
      <p:sp>
        <p:nvSpPr>
          <p:cNvPr id="14" name="Rounded Rectangle 13"/>
          <p:cNvSpPr/>
          <p:nvPr/>
        </p:nvSpPr>
        <p:spPr>
          <a:xfrm>
            <a:off x="457200" y="5047488"/>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157216"/>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Pay</a:t>
            </a:r>
          </a:p>
        </p:txBody>
      </p:sp>
      <p:sp>
        <p:nvSpPr>
          <p:cNvPr id="16" name="TextBox 15"/>
          <p:cNvSpPr txBox="1"/>
          <p:nvPr/>
        </p:nvSpPr>
        <p:spPr>
          <a:xfrm>
            <a:off x="685800" y="5550408"/>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Venmo (preferred) or Zelle · Cathy Hofer collects · app stores nothing</a:t>
            </a:r>
          </a:p>
        </p:txBody>
      </p:sp>
      <p:sp>
        <p:nvSpPr>
          <p:cNvPr id="17" name="Rounded Rectangle 16"/>
          <p:cNvSpPr/>
          <p:nvPr/>
        </p:nvSpPr>
        <p:spPr>
          <a:xfrm>
            <a:off x="6245352" y="1371600"/>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3952" y="1481328"/>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Signature nights</a:t>
            </a:r>
          </a:p>
        </p:txBody>
      </p:sp>
      <p:sp>
        <p:nvSpPr>
          <p:cNvPr id="19" name="TextBox 18"/>
          <p:cNvSpPr txBox="1"/>
          <p:nvPr/>
        </p:nvSpPr>
        <p:spPr>
          <a:xfrm>
            <a:off x="6473952" y="1874520"/>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Mon bonfire · Wed musky tourney · Thu talent show · Fri fireworks</a:t>
            </a:r>
          </a:p>
        </p:txBody>
      </p:sp>
      <p:sp>
        <p:nvSpPr>
          <p:cNvPr id="20" name="Rounded Rectangle 19"/>
          <p:cNvSpPr/>
          <p:nvPr/>
        </p:nvSpPr>
        <p:spPr>
          <a:xfrm>
            <a:off x="6245352" y="2596896"/>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2706624"/>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Resort WiFi</a:t>
            </a:r>
          </a:p>
        </p:txBody>
      </p:sp>
      <p:sp>
        <p:nvSpPr>
          <p:cNvPr id="22" name="TextBox 21"/>
          <p:cNvSpPr txBox="1"/>
          <p:nvPr/>
        </p:nvSpPr>
        <p:spPr>
          <a:xfrm>
            <a:off x="6473952" y="3099816"/>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Network: MLR-Guest   ·   Password: musky2026</a:t>
            </a:r>
          </a:p>
        </p:txBody>
      </p:sp>
      <p:sp>
        <p:nvSpPr>
          <p:cNvPr id="23" name="Rounded Rectangle 22"/>
          <p:cNvSpPr/>
          <p:nvPr/>
        </p:nvSpPr>
        <p:spPr>
          <a:xfrm>
            <a:off x="6245352" y="3822192"/>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3952" y="3931920"/>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Front desk / check-in</a:t>
            </a:r>
          </a:p>
        </p:txBody>
      </p:sp>
      <p:sp>
        <p:nvSpPr>
          <p:cNvPr id="25" name="TextBox 24"/>
          <p:cNvSpPr txBox="1"/>
          <p:nvPr/>
        </p:nvSpPr>
        <p:spPr>
          <a:xfrm>
            <a:off x="6473952" y="4325112"/>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Phone 715-555-0100 · check-in 4pm, out 11am</a:t>
            </a:r>
          </a:p>
        </p:txBody>
      </p:sp>
      <p:sp>
        <p:nvSpPr>
          <p:cNvPr id="26" name="Rounded Rectangle 25"/>
          <p:cNvSpPr/>
          <p:nvPr/>
        </p:nvSpPr>
        <p:spPr>
          <a:xfrm>
            <a:off x="6245352" y="5047488"/>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73952" y="5157216"/>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Need help (you)</a:t>
            </a:r>
          </a:p>
        </p:txBody>
      </p:sp>
      <p:sp>
        <p:nvSpPr>
          <p:cNvPr id="28" name="TextBox 27"/>
          <p:cNvSpPr txBox="1"/>
          <p:nvPr/>
        </p:nvSpPr>
        <p:spPr>
          <a:xfrm>
            <a:off x="6473952" y="5550408"/>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Brian Theis · 224-800-5389 · brian.theis15@gmail.com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