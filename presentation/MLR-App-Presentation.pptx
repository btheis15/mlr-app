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6858000" cy="12191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this doubles as your run-of-show. Each slide's FIND IT line is what to open in the app; the bold line is your key message; bullets are your talking points. Go in order; don't skip ahead. Open with: “We built something for the whole family — one app that's our home base for the lake all year, and especially for Family Fest.”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Don't open the app until you've given the opening line and this agenda. Promise the 'how to get it' payoff at the end so nobody rushes you. Goal: everyone adds it + signs in before they leave.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 it's the 'why should I care.' Land the 'one place instead of ten' idea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clearly — it parks the #1 interrupting question (“how do I get it?”) until the end so you can get through the tour cleanly. Repeat the 'just watch, we'll set you up at the end' line if people start fumbling with their phones.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them to the map before the journey. Just name the five tabs; don't tap into each yet — that's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Scroll slowly so eyes can follow. Don't tap into tiles yet — name them; you cover the important ones in their own slides.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emotional core — spend the most time here. Tap into Schedule and Dinners so they see real names and times. Family Fest is wine-colored, a different look — that's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point that RSVPs help the planners cook and plan for the right head-count. Demo changing your own RSVP so they see it's not scary.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a real sample post and read it aloud — makes it feel alive. This is the 'why you'll open it even when it's not Fest week' feature.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Great for the 'I never have anyone's number' problem. Show the Text/Call/Pay bar — that's the wow moment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recruit volunteers in the room. Name the leads so people know who to talk to. Chat is members-only.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'many hands make light work.' This one is beta — set that expectation so a hiccup isn't a surprise.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Reassure on money: the app stores no payment credentials, it just opens Venmo/Zelle. That kills the security worry instantly.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control: they choose what buzzes their phone. People fear app spam — this removes that objection.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you promised at the start. Walk them through it live, slowly. Have the link/QR ready. Tell iPhone users to add to Home Screen FIRST, then sign in there, so they don't sign in twice.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while people scan. Or read the link aloud: mlr-app-omega.vercel.app. iPhone users: once it opens, add to Home Screen, then sign in there so they don't sign in twice.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reassurance slide for the older / less techy crowd. Emphasize the human escape hatch — they can always just call you.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action, not features. Get them to do the three things in the room if you can. Then take questions — the appendix has your backup facts.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0C4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rand-logo.jpg"/>
          <p:cNvPicPr>
            <a:picLocks noChangeAspect="1"/>
          </p:cNvPicPr>
          <p:nvPr/>
        </p:nvPicPr>
        <p:blipFill>
          <a:blip r:embed="rId2"/>
          <a:stretch>
            <a:fillRect/>
          </a:stretch>
        </p:blipFill>
        <p:spPr>
          <a:xfrm>
            <a:off x="1600200" y="2103120"/>
            <a:ext cx="3657600" cy="2445679"/>
          </a:xfrm>
          <a:prstGeom prst="rect">
            <a:avLst/>
          </a:prstGeom>
        </p:spPr>
      </p:pic>
      <p:sp>
        <p:nvSpPr>
          <p:cNvPr id="4" name="TextBox 3"/>
          <p:cNvSpPr txBox="1"/>
          <p:nvPr/>
        </p:nvSpPr>
        <p:spPr>
          <a:xfrm>
            <a:off x="457200" y="6766560"/>
            <a:ext cx="5943600" cy="164592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3800" b="1" i="0">
                <a:solidFill>
                  <a:srgbClr val="FFFFFF"/>
                </a:solidFill>
                <a:latin typeface="Calibri"/>
              </a:rPr>
              <a:t>The Muskellunge Lake Resort App</a:t>
            </a:r>
          </a:p>
        </p:txBody>
      </p:sp>
      <p:sp>
        <p:nvSpPr>
          <p:cNvPr id="5" name="TextBox 4"/>
          <p:cNvSpPr txBox="1"/>
          <p:nvPr/>
        </p:nvSpPr>
        <p:spPr>
          <a:xfrm>
            <a:off x="548640" y="8686800"/>
            <a:ext cx="5760720" cy="91440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700" b="0" i="0">
                <a:solidFill>
                  <a:srgbClr val="E9E2C9"/>
                </a:solidFill>
                <a:latin typeface="Calibri"/>
              </a:rPr>
              <a:t>Your Northwoods home on Muskellunge Lake  ·  In the family since 1959</a:t>
            </a:r>
          </a:p>
        </p:txBody>
      </p:sp>
      <p:sp>
        <p:nvSpPr>
          <p:cNvPr id="6" name="Rounded Rectangle 5"/>
          <p:cNvSpPr/>
          <p:nvPr/>
        </p:nvSpPr>
        <p:spPr>
          <a:xfrm>
            <a:off x="868680" y="10058400"/>
            <a:ext cx="5120640" cy="603504"/>
          </a:xfrm>
          <a:prstGeom prst="roundRect">
            <a:avLst>
              <a:gd name="adj" fmla="val 8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0076688"/>
            <a:ext cx="5120640" cy="566928"/>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1500" b="1" i="0">
                <a:solidFill>
                  <a:srgbClr val="FFFFFF"/>
                </a:solidFill>
                <a:latin typeface="Calibri"/>
              </a:rPr>
              <a:t>A guided tour  ·  follow along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WELCOME</a:t>
            </a:r>
          </a:p>
        </p:txBody>
      </p:sp>
      <p:sp>
        <p:nvSpPr>
          <p:cNvPr id="8" name="TextBox 7"/>
          <p:cNvSpPr txBox="1"/>
          <p:nvPr/>
        </p:nvSpPr>
        <p:spPr>
          <a:xfrm>
            <a:off x="457200" y="2057400"/>
            <a:ext cx="6035040" cy="12801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3400" b="1" i="0">
                <a:solidFill>
                  <a:srgbClr val="14241C"/>
                </a:solidFill>
                <a:latin typeface="Calibri"/>
              </a:rPr>
              <a:t>What we'll look at</a:t>
            </a:r>
          </a:p>
        </p:txBody>
      </p:sp>
      <p:sp>
        <p:nvSpPr>
          <p:cNvPr id="9" name="Rounded Rectangle 8"/>
          <p:cNvSpPr/>
          <p:nvPr/>
        </p:nvSpPr>
        <p:spPr>
          <a:xfrm>
            <a:off x="411480" y="3520440"/>
            <a:ext cx="6035040" cy="731520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5394960" cy="6675120"/>
          </a:xfrm>
          <a:prstGeom prst="rect">
            <a:avLst/>
          </a:prstGeom>
          <a:noFill/>
        </p:spPr>
        <p:txBody>
          <a:bodyPr wrap="square" anchor="t" lIns="25400" rIns="25400" tIns="12700" bIns="12700">
            <a:spAutoFit/>
          </a:bodyPr>
          <a:lstStyle/>
          <a:p>
            <a:pPr algn="l">
              <a:lnSpc>
                <a:spcPct val="110000"/>
              </a:lnSpc>
              <a:spcBef>
                <a:spcPts val="0"/>
              </a:spcBef>
              <a:spcAft>
                <a:spcPts val="1400"/>
              </a:spcAft>
            </a:pPr>
            <a:r>
              <a:rPr sz="2000" b="1" i="0">
                <a:solidFill>
                  <a:srgbClr val="14241C"/>
                </a:solidFill>
                <a:latin typeface="Calibri"/>
              </a:rPr>
              <a:t>A few minutes, in plain English. Here's the tour:</a:t>
            </a:r>
          </a:p>
          <a:p>
            <a:pPr algn="l">
              <a:lnSpc>
                <a:spcPct val="110000"/>
              </a:lnSpc>
              <a:spcBef>
                <a:spcPts val="0"/>
              </a:spcBef>
              <a:spcAft>
                <a:spcPts val="1400"/>
              </a:spcAft>
            </a:pPr>
            <a:r>
              <a:rPr sz="1800" b="1" i="0">
                <a:solidFill>
                  <a:srgbClr val="15503A"/>
                </a:solidFill>
                <a:latin typeface="Calibri"/>
              </a:rPr>
              <a:t>•  </a:t>
            </a:r>
            <a:r>
              <a:rPr sz="1800" b="1" i="0">
                <a:solidFill>
                  <a:srgbClr val="14241C"/>
                </a:solidFill>
                <a:latin typeface="Calibri"/>
              </a:rPr>
              <a:t>Home &amp; the five tabs</a:t>
            </a:r>
            <a:r>
              <a:rPr sz="1800" b="0" i="0">
                <a:solidFill>
                  <a:srgbClr val="14241C"/>
                </a:solidFill>
                <a:latin typeface="Calibri"/>
              </a:rPr>
              <a:t>  — how you get around</a:t>
            </a:r>
          </a:p>
          <a:p>
            <a:pPr algn="l">
              <a:lnSpc>
                <a:spcPct val="110000"/>
              </a:lnSpc>
              <a:spcBef>
                <a:spcPts val="0"/>
              </a:spcBef>
              <a:spcAft>
                <a:spcPts val="1400"/>
              </a:spcAft>
            </a:pPr>
            <a:r>
              <a:rPr sz="1800" b="1" i="0">
                <a:solidFill>
                  <a:srgbClr val="15503A"/>
                </a:solidFill>
                <a:latin typeface="Calibri"/>
              </a:rPr>
              <a:t>•  </a:t>
            </a:r>
            <a:r>
              <a:rPr sz="1800" b="1" i="0">
                <a:solidFill>
                  <a:srgbClr val="14241C"/>
                </a:solidFill>
                <a:latin typeface="Calibri"/>
              </a:rPr>
              <a:t>Family Fest</a:t>
            </a:r>
            <a:r>
              <a:rPr sz="1800" b="0" i="0">
                <a:solidFill>
                  <a:srgbClr val="14241C"/>
                </a:solidFill>
                <a:latin typeface="Calibri"/>
              </a:rPr>
              <a:t>  — the big week: schedule, RSVP, dinners, dues</a:t>
            </a:r>
          </a:p>
          <a:p>
            <a:pPr algn="l">
              <a:lnSpc>
                <a:spcPct val="110000"/>
              </a:lnSpc>
              <a:spcBef>
                <a:spcPts val="0"/>
              </a:spcBef>
              <a:spcAft>
                <a:spcPts val="1400"/>
              </a:spcAft>
            </a:pPr>
            <a:r>
              <a:rPr sz="1800" b="1" i="0">
                <a:solidFill>
                  <a:srgbClr val="15503A"/>
                </a:solidFill>
                <a:latin typeface="Calibri"/>
              </a:rPr>
              <a:t>•  </a:t>
            </a:r>
            <a:r>
              <a:rPr sz="1800" b="1" i="0">
                <a:solidFill>
                  <a:srgbClr val="14241C"/>
                </a:solidFill>
                <a:latin typeface="Calibri"/>
              </a:rPr>
              <a:t>Staying connected</a:t>
            </a:r>
            <a:r>
              <a:rPr sz="1800" b="0" i="0">
                <a:solidFill>
                  <a:srgbClr val="14241C"/>
                </a:solidFill>
                <a:latin typeface="Calibri"/>
              </a:rPr>
              <a:t>  — photos, finding &amp; paying people, asking for help</a:t>
            </a:r>
          </a:p>
          <a:p>
            <a:pPr algn="l">
              <a:lnSpc>
                <a:spcPct val="110000"/>
              </a:lnSpc>
              <a:spcBef>
                <a:spcPts val="0"/>
              </a:spcBef>
              <a:spcAft>
                <a:spcPts val="1400"/>
              </a:spcAft>
            </a:pPr>
            <a:r>
              <a:rPr sz="1800" b="1" i="0">
                <a:solidFill>
                  <a:srgbClr val="15503A"/>
                </a:solidFill>
                <a:latin typeface="Calibri"/>
              </a:rPr>
              <a:t>•  </a:t>
            </a:r>
            <a:r>
              <a:rPr sz="1800" b="1" i="0">
                <a:solidFill>
                  <a:srgbClr val="14241C"/>
                </a:solidFill>
                <a:latin typeface="Calibri"/>
              </a:rPr>
              <a:t>How to get it on your phone</a:t>
            </a:r>
            <a:r>
              <a:rPr sz="1800" b="0" i="0">
                <a:solidFill>
                  <a:srgbClr val="14241C"/>
                </a:solidFill>
                <a:latin typeface="Calibri"/>
              </a:rPr>
              <a:t>  — at the very end, together</a:t>
            </a:r>
          </a:p>
          <a:p>
            <a:pPr algn="l">
              <a:lnSpc>
                <a:spcPct val="110000"/>
              </a:lnSpc>
              <a:spcBef>
                <a:spcPts val="0"/>
              </a:spcBef>
              <a:spcAft>
                <a:spcPts val="1400"/>
              </a:spcAft>
            </a:pPr>
            <a:r>
              <a:rPr sz="1700" b="0" i="1">
                <a:solidFill>
                  <a:srgbClr val="6B7068"/>
                </a:solidFill>
                <a:latin typeface="Calibri"/>
              </a:rPr>
              <a:t>You don't have to do anything yet — just follow along.</a:t>
            </a:r>
          </a:p>
        </p:txBody>
      </p:sp>
      <p:sp>
        <p:nvSpPr>
          <p:cNvPr id="11" name="Rounded Rectangle 10"/>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11539728"/>
            <a:ext cx="37719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What it is &amp; why it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2</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2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WHAT IT IS &amp; WHY</a:t>
            </a:r>
          </a:p>
        </p:txBody>
      </p:sp>
      <p:sp>
        <p:nvSpPr>
          <p:cNvPr id="8" name="TextBox 7"/>
          <p:cNvSpPr txBox="1"/>
          <p:nvPr/>
        </p:nvSpPr>
        <p:spPr>
          <a:xfrm>
            <a:off x="457200" y="2057400"/>
            <a:ext cx="6035040" cy="12801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3400" b="1" i="0">
                <a:solidFill>
                  <a:srgbClr val="14241C"/>
                </a:solidFill>
                <a:latin typeface="Calibri"/>
              </a:rPr>
              <a:t>One home base for the whole family</a:t>
            </a:r>
          </a:p>
        </p:txBody>
      </p:sp>
      <p:sp>
        <p:nvSpPr>
          <p:cNvPr id="9" name="Rounded Rectangle 8"/>
          <p:cNvSpPr/>
          <p:nvPr/>
        </p:nvSpPr>
        <p:spPr>
          <a:xfrm>
            <a:off x="411480" y="3520440"/>
            <a:ext cx="6035040" cy="731520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5394960" cy="6675120"/>
          </a:xfrm>
          <a:prstGeom prst="rect">
            <a:avLst/>
          </a:prstGeom>
          <a:noFill/>
        </p:spPr>
        <p:txBody>
          <a:bodyPr wrap="square" anchor="t" lIns="25400" rIns="25400" tIns="12700" bIns="12700">
            <a:spAutoFit/>
          </a:bodyPr>
          <a:lstStyle/>
          <a:p>
            <a:pPr algn="l">
              <a:lnSpc>
                <a:spcPct val="110000"/>
              </a:lnSpc>
              <a:spcBef>
                <a:spcPts val="0"/>
              </a:spcBef>
              <a:spcAft>
                <a:spcPts val="1400"/>
              </a:spcAft>
            </a:pPr>
            <a:r>
              <a:rPr sz="1900" b="1" i="0">
                <a:solidFill>
                  <a:srgbClr val="15503A"/>
                </a:solidFill>
                <a:latin typeface="Calibri"/>
              </a:rPr>
              <a:t>The problem:  </a:t>
            </a:r>
            <a:r>
              <a:rPr sz="1900" b="0" i="0">
                <a:solidFill>
                  <a:srgbClr val="14241C"/>
                </a:solidFill>
                <a:latin typeface="Calibri"/>
              </a:rPr>
              <a:t>plans live in texts, group chats, emails, and a dozen Google forms. Things get lost. New people don't know where to look.</a:t>
            </a:r>
          </a:p>
          <a:p>
            <a:pPr algn="l">
              <a:lnSpc>
                <a:spcPct val="110000"/>
              </a:lnSpc>
              <a:spcBef>
                <a:spcPts val="0"/>
              </a:spcBef>
              <a:spcAft>
                <a:spcPts val="1400"/>
              </a:spcAft>
            </a:pPr>
            <a:r>
              <a:rPr sz="1900" b="1" i="0">
                <a:solidFill>
                  <a:srgbClr val="15503A"/>
                </a:solidFill>
                <a:latin typeface="Calibri"/>
              </a:rPr>
              <a:t>The fix:  </a:t>
            </a:r>
            <a:r>
              <a:rPr sz="1900" b="0" i="0">
                <a:solidFill>
                  <a:srgbClr val="14241C"/>
                </a:solidFill>
                <a:latin typeface="Calibri"/>
              </a:rPr>
              <a:t>one place — schedule, who's coming, photos, who to pay, how to reach anyone, and everything Family Fest, all in your pocket.</a:t>
            </a:r>
          </a:p>
          <a:p>
            <a:pPr algn="l">
              <a:lnSpc>
                <a:spcPct val="110000"/>
              </a:lnSpc>
              <a:spcBef>
                <a:spcPts val="0"/>
              </a:spcBef>
              <a:spcAft>
                <a:spcPts val="1400"/>
              </a:spcAft>
            </a:pPr>
            <a:r>
              <a:rPr sz="1900" b="1" i="0">
                <a:solidFill>
                  <a:srgbClr val="15503A"/>
                </a:solidFill>
                <a:latin typeface="Calibri"/>
              </a:rPr>
              <a:t>Two jobs:  </a:t>
            </a:r>
            <a:r>
              <a:rPr sz="1900" b="0" i="0">
                <a:solidFill>
                  <a:srgbClr val="14241C"/>
                </a:solidFill>
                <a:latin typeface="Calibri"/>
              </a:rPr>
              <a:t>(1) the resort, year-round — fishing, cabins, local spots.  (2) Family Fest — the one week the whole clan shows up.</a:t>
            </a:r>
          </a:p>
          <a:p>
            <a:pPr algn="l">
              <a:lnSpc>
                <a:spcPct val="110000"/>
              </a:lnSpc>
              <a:spcBef>
                <a:spcPts val="0"/>
              </a:spcBef>
              <a:spcAft>
                <a:spcPts val="1400"/>
              </a:spcAft>
            </a:pPr>
            <a:r>
              <a:rPr sz="1700" b="0" i="1">
                <a:solidFill>
                  <a:srgbClr val="6B7068"/>
                </a:solidFill>
                <a:latin typeface="Calibri"/>
              </a:rPr>
              <a:t>It's a web app — no app store, works on any phone, tablet, or computer, and you can add it to your home screen like a real app.</a:t>
            </a:r>
          </a:p>
        </p:txBody>
      </p:sp>
      <p:sp>
        <p:nvSpPr>
          <p:cNvPr id="11" name="Rounded Rectangle 10"/>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11539728"/>
            <a:ext cx="75438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Set the ground rule for the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C2410C"/>
                </a:solidFill>
                <a:latin typeface="Calibri"/>
              </a:rPr>
              <a:t>STEP 3</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3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HOW TO FOLLOW ALONG</a:t>
            </a:r>
          </a:p>
        </p:txBody>
      </p:sp>
      <p:sp>
        <p:nvSpPr>
          <p:cNvPr id="8" name="TextBox 7"/>
          <p:cNvSpPr txBox="1"/>
          <p:nvPr/>
        </p:nvSpPr>
        <p:spPr>
          <a:xfrm>
            <a:off x="457200" y="2057400"/>
            <a:ext cx="6035040" cy="12801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3400" b="1" i="0">
                <a:solidFill>
                  <a:srgbClr val="14241C"/>
                </a:solidFill>
                <a:latin typeface="Calibri"/>
              </a:rPr>
              <a:t>You don't need an account to look</a:t>
            </a:r>
          </a:p>
        </p:txBody>
      </p:sp>
      <p:sp>
        <p:nvSpPr>
          <p:cNvPr id="9" name="Rounded Rectangle 8"/>
          <p:cNvSpPr/>
          <p:nvPr/>
        </p:nvSpPr>
        <p:spPr>
          <a:xfrm>
            <a:off x="411480" y="3520440"/>
            <a:ext cx="6035040" cy="731520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5394960" cy="6675120"/>
          </a:xfrm>
          <a:prstGeom prst="rect">
            <a:avLst/>
          </a:prstGeom>
          <a:noFill/>
        </p:spPr>
        <p:txBody>
          <a:bodyPr wrap="square" anchor="t" lIns="25400" rIns="25400" tIns="12700" bIns="12700">
            <a:spAutoFit/>
          </a:bodyPr>
          <a:lstStyle/>
          <a:p>
            <a:pPr algn="l">
              <a:lnSpc>
                <a:spcPct val="110000"/>
              </a:lnSpc>
              <a:spcBef>
                <a:spcPts val="0"/>
              </a:spcBef>
              <a:spcAft>
                <a:spcPts val="1400"/>
              </a:spcAft>
            </a:pPr>
            <a:r>
              <a:rPr sz="2100" b="1" i="0">
                <a:solidFill>
                  <a:srgbClr val="C2410C"/>
                </a:solidFill>
                <a:latin typeface="Calibri"/>
              </a:rPr>
              <a:t>Good news:  </a:t>
            </a:r>
            <a:r>
              <a:rPr sz="2100" b="0" i="0">
                <a:solidFill>
                  <a:srgbClr val="14241C"/>
                </a:solidFill>
                <a:latin typeface="Calibri"/>
              </a:rPr>
              <a:t>you can open and browse the whole app without signing in.</a:t>
            </a:r>
          </a:p>
          <a:p>
            <a:pPr algn="l">
              <a:lnSpc>
                <a:spcPct val="110000"/>
              </a:lnSpc>
              <a:spcBef>
                <a:spcPts val="0"/>
              </a:spcBef>
              <a:spcAft>
                <a:spcPts val="1400"/>
              </a:spcAft>
            </a:pPr>
            <a:r>
              <a:rPr sz="2100" b="1" i="0">
                <a:solidFill>
                  <a:srgbClr val="14241C"/>
                </a:solidFill>
                <a:latin typeface="Calibri"/>
              </a:rPr>
              <a:t>So just watch for now</a:t>
            </a:r>
            <a:r>
              <a:rPr sz="2100" b="0" i="0">
                <a:solidFill>
                  <a:srgbClr val="14241C"/>
                </a:solidFill>
                <a:latin typeface="Calibri"/>
              </a:rPr>
              <a:t>  — no need to grab your phone yet.</a:t>
            </a:r>
          </a:p>
          <a:p>
            <a:pPr algn="l">
              <a:lnSpc>
                <a:spcPct val="110000"/>
              </a:lnSpc>
              <a:spcBef>
                <a:spcPts val="0"/>
              </a:spcBef>
              <a:spcAft>
                <a:spcPts val="1400"/>
              </a:spcAft>
            </a:pPr>
            <a:r>
              <a:rPr sz="1800" b="0" i="1">
                <a:solidFill>
                  <a:srgbClr val="6B7068"/>
                </a:solidFill>
                <a:latin typeface="Calibri"/>
              </a:rPr>
              <a:t>At the very end I'll show you how to add it to your phone and sign in — and we'll do it together.</a:t>
            </a:r>
          </a:p>
        </p:txBody>
      </p:sp>
      <p:sp>
        <p:nvSpPr>
          <p:cNvPr id="11" name="Rounded Rectangle 10"/>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11539728"/>
            <a:ext cx="1131569" cy="64008"/>
          </a:xfrm>
          <a:prstGeom prst="roundRect">
            <a:avLst>
              <a:gd name="adj" fmla="val 8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The 5 tabs at the bottom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4</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4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The 5 tabs at the bottom</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The bar across the bottom of every screen</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Everything lives behind these five buttons at the bottom — that's the whole app.</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 Home</a:t>
            </a:r>
            <a:r>
              <a:rPr sz="1900" b="0" i="0">
                <a:solidFill>
                  <a:srgbClr val="14241C"/>
                </a:solidFill>
                <a:latin typeface="Calibri"/>
              </a:rPr>
              <a:t> — what's happening now + shortcuts to everything</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 Feed</a:t>
            </a:r>
            <a:r>
              <a:rPr sz="1900" b="0" i="0">
                <a:solidFill>
                  <a:srgbClr val="14241C"/>
                </a:solidFill>
                <a:latin typeface="Calibri"/>
              </a:rPr>
              <a:t> — family photos &amp; posts, and committee chat</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 Family Fest</a:t>
            </a:r>
            <a:r>
              <a:rPr sz="1900" b="0" i="0">
                <a:solidFill>
                  <a:srgbClr val="14241C"/>
                </a:solidFill>
                <a:latin typeface="Calibri"/>
              </a:rPr>
              <a:t> — the full week — schedule, RSVP, dues, shirts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 Activity</a:t>
            </a:r>
            <a:r>
              <a:rPr sz="1900" b="0" i="0">
                <a:solidFill>
                  <a:srgbClr val="14241C"/>
                </a:solidFill>
                <a:latin typeface="Calibri"/>
              </a:rPr>
              <a:t> — your notifications — comments, mentions, alerts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 Profile</a:t>
            </a:r>
            <a:r>
              <a:rPr sz="1900" b="0" i="0">
                <a:solidFill>
                  <a:srgbClr val="14241C"/>
                </a:solidFill>
                <a:latin typeface="Calibri"/>
              </a:rPr>
              <a:t> — your name, settings, sign-in, text size</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“People, Events, Pay, Local Places live on the Home screen — I'll show those too.”</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150876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A quick tour of the Home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5</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5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The Home screen</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Home tab  (the cabin logo at the bottom-left)</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Home always shows what matters right now — you'll usually start here.</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The logo up top</a:t>
            </a:r>
            <a:r>
              <a:rPr sz="1900" b="0" i="0">
                <a:solidFill>
                  <a:srgbClr val="14241C"/>
                </a:solidFill>
                <a:latin typeface="Calibri"/>
              </a:rPr>
              <a:t> — tap it anytime to come back home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Family Fest spotlight</a:t>
            </a:r>
            <a:r>
              <a:rPr sz="1900" b="0" i="0">
                <a:solidFill>
                  <a:srgbClr val="14241C"/>
                </a:solidFill>
                <a:latin typeface="Calibri"/>
              </a:rPr>
              <a:t> — a live countdown to July 27 right now</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What's happening cards</a:t>
            </a:r>
            <a:r>
              <a:rPr sz="1900" b="0" i="0">
                <a:solidFill>
                  <a:srgbClr val="14241C"/>
                </a:solidFill>
                <a:latin typeface="Calibri"/>
              </a:rPr>
              <a:t> — swipe-away call-outs like the t-shirt vote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Next event + RSVP</a:t>
            </a:r>
            <a:r>
              <a:rPr sz="1900" b="0" i="0">
                <a:solidFill>
                  <a:srgbClr val="14241C"/>
                </a:solidFill>
                <a:latin typeface="Calibri"/>
              </a:rPr>
              <a:t> — the closest gathering, one tap to say you're in</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Tiles</a:t>
            </a:r>
            <a:r>
              <a:rPr sz="1900" b="0" i="0">
                <a:solidFill>
                  <a:srgbClr val="14241C"/>
                </a:solidFill>
                <a:latin typeface="Calibri"/>
              </a:rPr>
              <a:t> — Get involved, Ask for Help, People, cabins, local places</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“We're ~4 weeks out, so it's in 'planning' mode — during Fest week it flips to a day-by-day view.”</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188595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Family Fest — the big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8B2E2E"/>
                </a:solidFill>
                <a:latin typeface="Calibri"/>
              </a:rPr>
              <a:t>STEP 6</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6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Family Fest — the centerpiece</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Family Fest tab  →  Schedule</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This is the heart of it — Family Fest is July 27 to 31, the whole clan at the lake.</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July 27–31, 2026</a:t>
            </a:r>
            <a:r>
              <a:rPr sz="1900" b="0" i="0">
                <a:solidFill>
                  <a:srgbClr val="14241C"/>
                </a:solidFill>
                <a:latin typeface="Calibri"/>
              </a:rPr>
              <a:t> — “Ye Olde Family Feste” theme this year</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Signature nights</a:t>
            </a:r>
            <a:r>
              <a:rPr sz="1900" b="0" i="0">
                <a:solidFill>
                  <a:srgbClr val="14241C"/>
                </a:solidFill>
                <a:latin typeface="Calibri"/>
              </a:rPr>
              <a:t> — Mon bonfire, Wed musky tournament, Thu talent show, Fri fireworks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Dinners each night</a:t>
            </a:r>
            <a:r>
              <a:rPr sz="1900" b="0" i="0">
                <a:solidFill>
                  <a:srgbClr val="14241C"/>
                </a:solidFill>
                <a:latin typeface="Calibri"/>
              </a:rPr>
              <a:t> — chefs: Jessica, Natalie &amp; Karen, Lauren, Rob &amp; Joe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All-week fun</a:t>
            </a:r>
            <a:r>
              <a:rPr sz="1900" b="0" i="0">
                <a:solidFill>
                  <a:srgbClr val="14241C"/>
                </a:solidFill>
                <a:latin typeface="Calibri"/>
              </a:rPr>
              <a:t> — scavenger hunt, lake day, golf outing, games up top</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Sub-nav up top</a:t>
            </a:r>
            <a:r>
              <a:rPr sz="1900" b="0" i="0">
                <a:solidFill>
                  <a:srgbClr val="14241C"/>
                </a:solidFill>
                <a:latin typeface="Calibri"/>
              </a:rPr>
              <a:t> — Schedule · Dinners · Crew · Photos · Pay · Shirts</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“$100 per adult for the week; kids' price still being set.”</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2263139" cy="64008"/>
          </a:xfrm>
          <a:prstGeom prst="roundRect">
            <a:avLst>
              <a:gd name="adj" fmla="val 8000"/>
            </a:avLst>
          </a:prstGeom>
          <a:solidFill>
            <a:srgbClr val="8B2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RSVP — let people know you're coming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7</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7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Events &amp; RSVP</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Events  (or the event spotlight on Home)  →  tap a card</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Tap any event and tell us if you're coming — it's like Facebook events.</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Three taps</a:t>
            </a:r>
            <a:r>
              <a:rPr sz="1900" b="0" i="0">
                <a:solidFill>
                  <a:srgbClr val="14241C"/>
                </a:solidFill>
                <a:latin typeface="Calibri"/>
              </a:rPr>
              <a:t> — Going, Maybe, or Can't make — that's it</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See who's coming</a:t>
            </a:r>
            <a:r>
              <a:rPr sz="1900" b="0" i="0">
                <a:solidFill>
                  <a:srgbClr val="14241C"/>
                </a:solidFill>
                <a:latin typeface="Calibri"/>
              </a:rPr>
              <a:t> — the whole list of who RSVP'd</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Family Fest is per-day</a:t>
            </a:r>
            <a:r>
              <a:rPr sz="1900" b="0" i="0">
                <a:solidFill>
                  <a:srgbClr val="14241C"/>
                </a:solidFill>
                <a:latin typeface="Calibri"/>
              </a:rPr>
              <a:t> — pick the exact days you'll be there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Other events too</a:t>
            </a:r>
            <a:r>
              <a:rPr sz="1900" b="0" i="0">
                <a:solidFill>
                  <a:srgbClr val="14241C"/>
                </a:solidFill>
                <a:latin typeface="Calibri"/>
              </a:rPr>
              <a:t> — e.g. Up North for the 4th, July 3–5</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“Change your answer anytime — just tap a different button.”</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2640329"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The Feed — photos &amp; updates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8</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8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The Feed — photos &amp; updates</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Feed tab</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This is our family wall — post a photo, everyone sees it, like and comment.</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Post anything</a:t>
            </a:r>
            <a:r>
              <a:rPr sz="1900" b="0" i="0">
                <a:solidFill>
                  <a:srgbClr val="14241C"/>
                </a:solidFill>
                <a:latin typeface="Calibri"/>
              </a:rPr>
              <a:t> — “First musky of the season,” sunset off the dock</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Like &amp; comment</a:t>
            </a:r>
            <a:r>
              <a:rPr sz="1900" b="0" i="0">
                <a:solidFill>
                  <a:srgbClr val="14241C"/>
                </a:solidFill>
                <a:latin typeface="Calibri"/>
              </a:rPr>
              <a:t> — tag people with @name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Private to family</a:t>
            </a:r>
            <a:r>
              <a:rPr sz="1900" b="0" i="0">
                <a:solidFill>
                  <a:srgbClr val="14241C"/>
                </a:solidFill>
                <a:latin typeface="Calibri"/>
              </a:rPr>
              <a:t> — not public, not strangers — just us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Real examples</a:t>
            </a:r>
            <a:r>
              <a:rPr sz="1900" b="0" i="0">
                <a:solidFill>
                  <a:srgbClr val="14241C"/>
                </a:solidFill>
                <a:latin typeface="Calibri"/>
              </a:rPr>
              <a:t> — Grandpa's musky, Aunt Linda's countdown post</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“Anything inappropriate gets held for review automatically — it's a family-safe space.”</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301752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People — find &amp; reach anyone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9</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9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People — find &amp; reach anyone</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Home  →  People</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The whole family directory — text, call, or pay anyone in two taps.</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Searchable list</a:t>
            </a:r>
            <a:r>
              <a:rPr sz="1900" b="0" i="0">
                <a:solidFill>
                  <a:srgbClr val="14241C"/>
                </a:solidFill>
                <a:latin typeface="Calibri"/>
              </a:rPr>
              <a:t> — everyone with an account, by name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Quick buttons</a:t>
            </a:r>
            <a:r>
              <a:rPr sz="1900" b="0" i="0">
                <a:solidFill>
                  <a:srgbClr val="14241C"/>
                </a:solidFill>
                <a:latin typeface="Calibri"/>
              </a:rPr>
              <a:t> — Text · Call · Pay right on each person</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Tap through</a:t>
            </a:r>
            <a:r>
              <a:rPr sz="1900" b="0" i="0">
                <a:solidFill>
                  <a:srgbClr val="14241C"/>
                </a:solidFill>
                <a:latin typeface="Calibri"/>
              </a:rPr>
              <a:t> — their full profile + how they prefer to be paid</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Email a group</a:t>
            </a:r>
            <a:r>
              <a:rPr sz="1900" b="0" i="0">
                <a:solidFill>
                  <a:srgbClr val="14241C"/>
                </a:solidFill>
                <a:latin typeface="Calibri"/>
              </a:rPr>
              <a:t> — send a note to a whole set of people at once</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“Full contact info only shows once you're signed in — guests see first names only.”</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339471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Committees &amp; private chat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10</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10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Committees &amp; chat</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Home  →  Get involved  →  a committee</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Family Fest is run by volunteers — five teams, and each has its own group chat.</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Meals</a:t>
            </a:r>
            <a:r>
              <a:rPr sz="1900" b="0" i="0">
                <a:solidFill>
                  <a:srgbClr val="14241C"/>
                </a:solidFill>
                <a:latin typeface="Calibri"/>
              </a:rPr>
              <a:t> — lead: Lauren Zerfas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Entertainment &amp; Games</a:t>
            </a:r>
            <a:r>
              <a:rPr sz="1900" b="0" i="0">
                <a:solidFill>
                  <a:srgbClr val="14241C"/>
                </a:solidFill>
                <a:latin typeface="Calibri"/>
              </a:rPr>
              <a:t> — lead: Keith Thibodeau</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Art &amp; Decorating</a:t>
            </a:r>
            <a:r>
              <a:rPr sz="1900" b="0" i="0">
                <a:solidFill>
                  <a:srgbClr val="14241C"/>
                </a:solidFill>
                <a:latin typeface="Calibri"/>
              </a:rPr>
              <a:t> — lead: Jenny Snively</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Merch &amp; Fundraising / Logistics</a:t>
            </a:r>
            <a:r>
              <a:rPr sz="1900" b="0" i="0">
                <a:solidFill>
                  <a:srgbClr val="14241C"/>
                </a:solidFill>
                <a:latin typeface="Calibri"/>
              </a:rPr>
              <a:t> — leads: Rick Gorge / Cathy Hofer</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Private chat per team</a:t>
            </a:r>
            <a:r>
              <a:rPr sz="1900" b="0" i="0">
                <a:solidFill>
                  <a:srgbClr val="14241C"/>
                </a:solidFill>
                <a:latin typeface="Calibri"/>
              </a:rPr>
              <a:t> — real-time, only your committee sees it</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“Want to help? Join a committee right here and you're in the chat.”</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377190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Ask for Help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11</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11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Ask for Help</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Home  →  Ask for Help</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At the lake and need a hand? Post it, and people nearby get a ping.</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Post a need</a:t>
            </a:r>
            <a:r>
              <a:rPr sz="1900" b="0" i="0">
                <a:solidFill>
                  <a:srgbClr val="14241C"/>
                </a:solidFill>
                <a:latin typeface="Calibri"/>
              </a:rPr>
              <a:t> — moving tables, a ride, supplies, an extra set of hands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Helpers respond</a:t>
            </a:r>
            <a:r>
              <a:rPr sz="1900" b="0" i="0">
                <a:solidFill>
                  <a:srgbClr val="14241C"/>
                </a:solidFill>
                <a:latin typeface="Calibri"/>
              </a:rPr>
              <a:t> — one tap: “On my way”</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What to bring</a:t>
            </a:r>
            <a:r>
              <a:rPr sz="1900" b="0" i="0">
                <a:solidFill>
                  <a:srgbClr val="14241C"/>
                </a:solidFill>
                <a:latin typeface="Calibri"/>
              </a:rPr>
              <a:t> — list items; helpers claim what they'll grab</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Urgent option</a:t>
            </a:r>
            <a:r>
              <a:rPr sz="1900" b="0" i="0">
                <a:solidFill>
                  <a:srgbClr val="14241C"/>
                </a:solidFill>
                <a:latin typeface="Calibri"/>
              </a:rPr>
              <a:t> — 🚨 alerts everyone, for real emergencies</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“It's in beta right now — we're testing it during Fest week.”</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4149089"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Paying dues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12</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12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Paying dues</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Family Fest tab  →  Pay</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Dues are $100 an adult — pay right from here with Venmo or Zelle.</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See who &amp; how</a:t>
            </a:r>
            <a:r>
              <a:rPr sz="1900" b="0" i="0">
                <a:solidFill>
                  <a:srgbClr val="14241C"/>
                </a:solidFill>
                <a:latin typeface="Calibri"/>
              </a:rPr>
              <a:t> — Cathy Hofer collects; Venmo preferred, Zelle works too</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One tap opens</a:t>
            </a:r>
            <a:r>
              <a:rPr sz="1900" b="0" i="0">
                <a:solidFill>
                  <a:srgbClr val="14241C"/>
                </a:solidFill>
                <a:latin typeface="Calibri"/>
              </a:rPr>
              <a:t> — your Venmo/Zelle app with the handle ready</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Nothing stored</a:t>
            </a:r>
            <a:r>
              <a:rPr sz="1900" b="0" i="0">
                <a:solidFill>
                  <a:srgbClr val="14241C"/>
                </a:solidFill>
                <a:latin typeface="Calibri"/>
              </a:rPr>
              <a:t> — the app never holds your card or bank info</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$100 / adult</a:t>
            </a:r>
            <a:r>
              <a:rPr sz="1900" b="0" i="0">
                <a:solidFill>
                  <a:srgbClr val="14241C"/>
                </a:solidFill>
                <a:latin typeface="Calibri"/>
              </a:rPr>
              <a:t> — kids' pricing being finalized</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“The app just hands you off to Venmo — your money stays in your own apps.”</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4526279"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Notifications &amp; push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13</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13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Notifications &amp; alerts</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Activity tab (bell)  ·  Profile  →  Notifications</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The bell tab is everything that happened involving you — and you control what pings your phone.</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Activity feed</a:t>
            </a:r>
            <a:r>
              <a:rPr sz="1900" b="0" i="0">
                <a:solidFill>
                  <a:srgbClr val="14241C"/>
                </a:solidFill>
                <a:latin typeface="Calibri"/>
              </a:rPr>
              <a:t> — comments, @mentions, reactions, approvals, alerts</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Red badge</a:t>
            </a:r>
            <a:r>
              <a:rPr sz="1900" b="0" i="0">
                <a:solidFill>
                  <a:srgbClr val="14241C"/>
                </a:solidFill>
                <a:latin typeface="Calibri"/>
              </a:rPr>
              <a:t> — shows when something's new</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Push to your phone</a:t>
            </a:r>
            <a:r>
              <a:rPr sz="1900" b="0" i="0">
                <a:solidFill>
                  <a:srgbClr val="14241C"/>
                </a:solidFill>
                <a:latin typeface="Calibri"/>
              </a:rPr>
              <a:t> — turn on alerts you care about, mute the rest</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Admin announcements</a:t>
            </a:r>
            <a:r>
              <a:rPr sz="1900" b="0" i="0">
                <a:solidFill>
                  <a:srgbClr val="14241C"/>
                </a:solidFill>
                <a:latin typeface="Calibri"/>
              </a:rPr>
              <a:t> — important notices reach everyone</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“You pick exactly what notifies you — you won't get spammed.”</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490347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How to get it + sign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C2410C"/>
                </a:solidFill>
                <a:latin typeface="Calibri"/>
              </a:rPr>
              <a:t>STEP 14</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14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How to get it + sign in</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Profile  →  add name &amp; email  ·  then Add to Home Screen</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Okay — now let's all get it. It takes about a minute and there's no password.</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Open the link</a:t>
            </a:r>
            <a:r>
              <a:rPr sz="1900" b="0" i="0">
                <a:solidFill>
                  <a:srgbClr val="14241C"/>
                </a:solidFill>
                <a:latin typeface="Calibri"/>
              </a:rPr>
              <a:t> — go to mlr-app-omega.vercel.app — or scan the code (next slide)</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Add to Home Screen</a:t>
            </a:r>
            <a:r>
              <a:rPr sz="1900" b="0" i="0">
                <a:solidFill>
                  <a:srgbClr val="14241C"/>
                </a:solidFill>
                <a:latin typeface="Calibri"/>
              </a:rPr>
              <a:t> — makes it a tap-to-open icon like a real app</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Enter name + email</a:t>
            </a:r>
            <a:r>
              <a:rPr sz="1900" b="0" i="0">
                <a:solidFill>
                  <a:srgbClr val="14241C"/>
                </a:solidFill>
                <a:latin typeface="Calibri"/>
              </a:rPr>
              <a:t> — we email you a 6-digit code — no password ever</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Type the code back</a:t>
            </a:r>
            <a:r>
              <a:rPr sz="1900" b="0" i="0">
                <a:solidFill>
                  <a:srgbClr val="14241C"/>
                </a:solidFill>
                <a:latin typeface="Calibri"/>
              </a:rPr>
              <a:t> — that's it — you stay signed in on your phone</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“Didn't get the code? Check spam, or tap Resend. There's a Help page too.”</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5280659" cy="64008"/>
          </a:xfrm>
          <a:prstGeom prst="roundRect">
            <a:avLst>
              <a:gd name="adj" fmla="val 8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Scan to open the app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0C4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0"/>
            <a:ext cx="5943600" cy="128016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3600" b="1" i="0">
                <a:solidFill>
                  <a:srgbClr val="FFFFFF"/>
                </a:solidFill>
                <a:latin typeface="Calibri"/>
              </a:rPr>
              <a:t>Scan to open the app</a:t>
            </a:r>
          </a:p>
        </p:txBody>
      </p:sp>
      <p:sp>
        <p:nvSpPr>
          <p:cNvPr id="4" name="TextBox 3"/>
          <p:cNvSpPr txBox="1"/>
          <p:nvPr/>
        </p:nvSpPr>
        <p:spPr>
          <a:xfrm>
            <a:off x="548640" y="2651760"/>
            <a:ext cx="5760720" cy="914400"/>
          </a:xfrm>
          <a:prstGeom prst="rect">
            <a:avLst/>
          </a:prstGeom>
          <a:noFill/>
        </p:spPr>
        <p:txBody>
          <a:bodyPr wrap="square" anchor="t" lIns="25400" rIns="25400" tIns="12700" bIns="12700">
            <a:spAutoFit/>
          </a:bodyPr>
          <a:lstStyle/>
          <a:p>
            <a:pPr algn="ctr">
              <a:lnSpc>
                <a:spcPct val="100000"/>
              </a:lnSpc>
              <a:spcBef>
                <a:spcPts val="0"/>
              </a:spcBef>
              <a:spcAft>
                <a:spcPts val="400"/>
              </a:spcAft>
            </a:pPr>
            <a:r>
              <a:rPr sz="1800" b="0" i="0">
                <a:solidFill>
                  <a:srgbClr val="E9E2C9"/>
                </a:solidFill>
                <a:latin typeface="Calibri"/>
              </a:rPr>
              <a:t>Point your phone camera at the code — it opens right up</a:t>
            </a:r>
          </a:p>
        </p:txBody>
      </p:sp>
      <p:sp>
        <p:nvSpPr>
          <p:cNvPr id="5" name="Rounded Rectangle 4"/>
          <p:cNvSpPr/>
          <p:nvPr/>
        </p:nvSpPr>
        <p:spPr>
          <a:xfrm>
            <a:off x="914400" y="4023360"/>
            <a:ext cx="5029200" cy="5029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qr_app.png"/>
          <p:cNvPicPr>
            <a:picLocks noChangeAspect="1"/>
          </p:cNvPicPr>
          <p:nvPr/>
        </p:nvPicPr>
        <p:blipFill>
          <a:blip r:embed="rId2"/>
          <a:stretch>
            <a:fillRect/>
          </a:stretch>
        </p:blipFill>
        <p:spPr>
          <a:xfrm>
            <a:off x="1234440" y="4343400"/>
            <a:ext cx="4389120" cy="4389120"/>
          </a:xfrm>
          <a:prstGeom prst="rect">
            <a:avLst/>
          </a:prstGeom>
        </p:spPr>
      </p:pic>
      <p:sp>
        <p:nvSpPr>
          <p:cNvPr id="7" name="Rounded Rectangle 6"/>
          <p:cNvSpPr/>
          <p:nvPr/>
        </p:nvSpPr>
        <p:spPr>
          <a:xfrm>
            <a:off x="685800" y="9784080"/>
            <a:ext cx="5486400" cy="640080"/>
          </a:xfrm>
          <a:prstGeom prst="roundRect">
            <a:avLst>
              <a:gd name="adj" fmla="val 8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9802368"/>
            <a:ext cx="5486400" cy="603504"/>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000" b="1" i="0">
                <a:solidFill>
                  <a:srgbClr val="FFFFFF"/>
                </a:solidFill>
                <a:latin typeface="Calibri"/>
              </a:rPr>
              <a:t>mlr-app-omega.vercel.app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15503A"/>
                </a:solidFill>
                <a:latin typeface="Calibri"/>
              </a:rPr>
              <a:t>STEP 15</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15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Privacy, safety &amp; help</a:t>
            </a:r>
          </a:p>
        </p:txBody>
      </p:sp>
      <p:sp>
        <p:nvSpPr>
          <p:cNvPr id="8" name="Rounded Rectangle 7"/>
          <p:cNvSpPr/>
          <p:nvPr/>
        </p:nvSpPr>
        <p:spPr>
          <a:xfrm>
            <a:off x="411480" y="1965960"/>
            <a:ext cx="6035040" cy="960120"/>
          </a:xfrm>
          <a:prstGeom prst="roundRect">
            <a:avLst>
              <a:gd name="adj" fmla="val 8000"/>
            </a:avLst>
          </a:prstGeom>
          <a:solidFill>
            <a:srgbClr val="ECF3E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84831"/>
            <a:ext cx="27432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1" i="0">
                <a:solidFill>
                  <a:srgbClr val="15503A"/>
                </a:solidFill>
                <a:latin typeface="Calibri"/>
              </a:rPr>
              <a:t>📍  FIND IT</a:t>
            </a:r>
          </a:p>
        </p:txBody>
      </p:sp>
      <p:sp>
        <p:nvSpPr>
          <p:cNvPr id="10" name="TextBox 9"/>
          <p:cNvSpPr txBox="1"/>
          <p:nvPr/>
        </p:nvSpPr>
        <p:spPr>
          <a:xfrm>
            <a:off x="612648" y="2423160"/>
            <a:ext cx="5632703" cy="45720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800" b="1" i="0">
                <a:solidFill>
                  <a:srgbClr val="14241C"/>
                </a:solidFill>
                <a:latin typeface="Calibri"/>
              </a:rPr>
              <a:t>Profile  →  Text size  ·  Help page</a:t>
            </a:r>
          </a:p>
        </p:txBody>
      </p:sp>
      <p:sp>
        <p:nvSpPr>
          <p:cNvPr id="11" name="Rounded Rectangle 10"/>
          <p:cNvSpPr/>
          <p:nvPr/>
        </p:nvSpPr>
        <p:spPr>
          <a:xfrm>
            <a:off x="411480" y="3108960"/>
            <a:ext cx="6035040" cy="1874519"/>
          </a:xfrm>
          <a:prstGeom prst="roundRect">
            <a:avLst>
              <a:gd name="adj" fmla="val 8000"/>
            </a:avLst>
          </a:prstGeom>
          <a:solidFill>
            <a:srgbClr val="FBF7EC"/>
          </a:solidFill>
          <a:ln w="12700">
            <a:solidFill>
              <a:srgbClr val="E6D9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3108960"/>
            <a:ext cx="109728" cy="1874519"/>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08960"/>
            <a:ext cx="5532120" cy="1874519"/>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100" b="1" i="0">
                <a:solidFill>
                  <a:srgbClr val="14241C"/>
                </a:solidFill>
                <a:latin typeface="Calibri"/>
              </a:rPr>
              <a:t>It's just us — family only — and we made it easy for every age to use.</a:t>
            </a:r>
          </a:p>
        </p:txBody>
      </p:sp>
      <p:sp>
        <p:nvSpPr>
          <p:cNvPr id="14" name="TextBox 13"/>
          <p:cNvSpPr txBox="1"/>
          <p:nvPr/>
        </p:nvSpPr>
        <p:spPr>
          <a:xfrm>
            <a:off x="502920" y="5212079"/>
            <a:ext cx="5852159" cy="4480560"/>
          </a:xfrm>
          <a:prstGeom prst="rect">
            <a:avLst/>
          </a:prstGeom>
          <a:noFill/>
        </p:spPr>
        <p:txBody>
          <a:bodyPr wrap="square" anchor="t" lIns="25400" rIns="25400" tIns="12700" bIns="12700">
            <a:spAutoFit/>
          </a:bodyPr>
          <a:lstStyle/>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Family only</a:t>
            </a:r>
            <a:r>
              <a:rPr sz="1900" b="0" i="0">
                <a:solidFill>
                  <a:srgbClr val="14241C"/>
                </a:solidFill>
                <a:latin typeface="Calibri"/>
              </a:rPr>
              <a:t> — not public; sensitive info hidden until you sign in</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Bigger text</a:t>
            </a:r>
            <a:r>
              <a:rPr sz="1900" b="0" i="0">
                <a:solidFill>
                  <a:srgbClr val="14241C"/>
                </a:solidFill>
                <a:latin typeface="Calibri"/>
              </a:rPr>
              <a:t> — Profile → Text size: Normal / Large / Largest</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Help page</a:t>
            </a:r>
            <a:r>
              <a:rPr sz="1900" b="0" i="0">
                <a:solidFill>
                  <a:srgbClr val="14241C"/>
                </a:solidFill>
                <a:latin typeface="Calibri"/>
              </a:rPr>
              <a:t> — plain-language how-tos for anyone stuck</a:t>
            </a:r>
          </a:p>
          <a:p>
            <a:pPr algn="l">
              <a:lnSpc>
                <a:spcPct val="100000"/>
              </a:lnSpc>
              <a:spcBef>
                <a:spcPts val="0"/>
              </a:spcBef>
              <a:spcAft>
                <a:spcPts val="1300"/>
              </a:spcAft>
            </a:pPr>
            <a:r>
              <a:rPr sz="1900" b="1" i="0">
                <a:solidFill>
                  <a:srgbClr val="15503A"/>
                </a:solidFill>
                <a:latin typeface="Calibri"/>
              </a:rPr>
              <a:t>•  </a:t>
            </a:r>
            <a:r>
              <a:rPr sz="1900" b="1" i="0">
                <a:solidFill>
                  <a:srgbClr val="14241C"/>
                </a:solidFill>
                <a:latin typeface="Calibri"/>
              </a:rPr>
              <a:t>A real person</a:t>
            </a:r>
            <a:r>
              <a:rPr sz="1900" b="0" i="0">
                <a:solidFill>
                  <a:srgbClr val="14241C"/>
                </a:solidFill>
                <a:latin typeface="Calibri"/>
              </a:rPr>
              <a:t> — text or call me (Brian) anytime — it's on the Help page</a:t>
            </a:r>
          </a:p>
        </p:txBody>
      </p:sp>
      <p:sp>
        <p:nvSpPr>
          <p:cNvPr id="15" name="Rounded Rectangle 14"/>
          <p:cNvSpPr/>
          <p:nvPr/>
        </p:nvSpPr>
        <p:spPr>
          <a:xfrm>
            <a:off x="411480" y="9784080"/>
            <a:ext cx="6035040" cy="1143000"/>
          </a:xfrm>
          <a:prstGeom prst="roundRect">
            <a:avLst>
              <a:gd name="adj" fmla="val 8000"/>
            </a:avLst>
          </a:prstGeom>
          <a:solidFill>
            <a:srgbClr val="F3EEF0"/>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 y="9902952"/>
            <a:ext cx="365760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400" b="1" i="0">
                <a:solidFill>
                  <a:srgbClr val="8B2E2E"/>
                </a:solidFill>
                <a:latin typeface="Calibri"/>
              </a:rPr>
              <a:t>💡 GOOD TO KNOW</a:t>
            </a:r>
          </a:p>
        </p:txBody>
      </p:sp>
      <p:sp>
        <p:nvSpPr>
          <p:cNvPr id="17" name="TextBox 16"/>
          <p:cNvSpPr txBox="1"/>
          <p:nvPr/>
        </p:nvSpPr>
        <p:spPr>
          <a:xfrm>
            <a:off x="612648" y="10241280"/>
            <a:ext cx="5632703"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500" b="0" i="0">
                <a:solidFill>
                  <a:srgbClr val="14241C"/>
                </a:solidFill>
                <a:latin typeface="Calibri"/>
              </a:rPr>
              <a:t>“No strangers, no ads, no selling anything. It's our family's app.”</a:t>
            </a:r>
          </a:p>
        </p:txBody>
      </p:sp>
      <p:sp>
        <p:nvSpPr>
          <p:cNvPr id="18" name="Rounded Rectangle 17"/>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11539728"/>
            <a:ext cx="5657850" cy="64008"/>
          </a:xfrm>
          <a:prstGeom prst="roundRect">
            <a:avLst>
              <a:gd name="adj" fmla="val 8000"/>
            </a:avLst>
          </a:prstGeom>
          <a:solidFill>
            <a:srgbClr val="15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What to do right now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78308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292608"/>
            <a:ext cx="1417320" cy="71323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310896"/>
            <a:ext cx="1417320" cy="676656"/>
          </a:xfrm>
          <a:prstGeom prst="rect">
            <a:avLst/>
          </a:prstGeom>
          <a:noFill/>
        </p:spPr>
        <p:txBody>
          <a:bodyPr wrap="square" anchor="ctr" lIns="25400" rIns="25400" tIns="12700" bIns="12700">
            <a:spAutoFit/>
          </a:bodyPr>
          <a:lstStyle/>
          <a:p>
            <a:pPr algn="ctr">
              <a:lnSpc>
                <a:spcPct val="100000"/>
              </a:lnSpc>
              <a:spcBef>
                <a:spcPts val="0"/>
              </a:spcBef>
              <a:spcAft>
                <a:spcPts val="400"/>
              </a:spcAft>
            </a:pPr>
            <a:r>
              <a:rPr sz="2200" b="1" i="0">
                <a:solidFill>
                  <a:srgbClr val="C2410C"/>
                </a:solidFill>
                <a:latin typeface="Calibri"/>
              </a:rPr>
              <a:t>STEP 16</a:t>
            </a:r>
          </a:p>
        </p:txBody>
      </p:sp>
      <p:sp>
        <p:nvSpPr>
          <p:cNvPr id="6" name="TextBox 5"/>
          <p:cNvSpPr txBox="1"/>
          <p:nvPr/>
        </p:nvSpPr>
        <p:spPr>
          <a:xfrm>
            <a:off x="1920240" y="292608"/>
            <a:ext cx="4572000" cy="713232"/>
          </a:xfrm>
          <a:prstGeom prst="rect">
            <a:avLst/>
          </a:prstGeom>
          <a:noFill/>
        </p:spPr>
        <p:txBody>
          <a:bodyPr wrap="square" anchor="ctr" lIns="25400" rIns="25400" tIns="12700" bIns="12700">
            <a:spAutoFit/>
          </a:bodyPr>
          <a:lstStyle/>
          <a:p>
            <a:pPr algn="r">
              <a:lnSpc>
                <a:spcPct val="100000"/>
              </a:lnSpc>
              <a:spcBef>
                <a:spcPts val="0"/>
              </a:spcBef>
              <a:spcAft>
                <a:spcPts val="400"/>
              </a:spcAft>
            </a:pPr>
            <a:r>
              <a:rPr sz="1400" b="0" i="0">
                <a:solidFill>
                  <a:srgbClr val="ECF3EF"/>
                </a:solidFill>
                <a:latin typeface="Calibri"/>
              </a:rPr>
              <a:t>Step 16 of 16</a:t>
            </a:r>
          </a:p>
        </p:txBody>
      </p:sp>
      <p:sp>
        <p:nvSpPr>
          <p:cNvPr id="7" name="TextBox 6"/>
          <p:cNvSpPr txBox="1"/>
          <p:nvPr/>
        </p:nvSpPr>
        <p:spPr>
          <a:xfrm>
            <a:off x="411480" y="1024128"/>
            <a:ext cx="6035040" cy="713232"/>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800" b="1" i="0">
                <a:solidFill>
                  <a:srgbClr val="FFFFFF"/>
                </a:solidFill>
                <a:latin typeface="Calibri"/>
              </a:rPr>
              <a:t>BEFORE YOU LEAVE</a:t>
            </a:r>
          </a:p>
        </p:txBody>
      </p:sp>
      <p:sp>
        <p:nvSpPr>
          <p:cNvPr id="8" name="TextBox 7"/>
          <p:cNvSpPr txBox="1"/>
          <p:nvPr/>
        </p:nvSpPr>
        <p:spPr>
          <a:xfrm>
            <a:off x="457200" y="2057400"/>
            <a:ext cx="6035040" cy="12801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3400" b="1" i="0">
                <a:solidFill>
                  <a:srgbClr val="14241C"/>
                </a:solidFill>
                <a:latin typeface="Calibri"/>
              </a:rPr>
              <a:t>Three things to do right now</a:t>
            </a:r>
          </a:p>
        </p:txBody>
      </p:sp>
      <p:sp>
        <p:nvSpPr>
          <p:cNvPr id="9" name="Rounded Rectangle 8"/>
          <p:cNvSpPr/>
          <p:nvPr/>
        </p:nvSpPr>
        <p:spPr>
          <a:xfrm>
            <a:off x="411480" y="3520440"/>
            <a:ext cx="6035040" cy="731520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840480"/>
            <a:ext cx="5394960" cy="6675120"/>
          </a:xfrm>
          <a:prstGeom prst="rect">
            <a:avLst/>
          </a:prstGeom>
          <a:noFill/>
        </p:spPr>
        <p:txBody>
          <a:bodyPr wrap="square" anchor="t" lIns="25400" rIns="25400" tIns="12700" bIns="12700">
            <a:spAutoFit/>
          </a:bodyPr>
          <a:lstStyle/>
          <a:p>
            <a:pPr algn="l">
              <a:lnSpc>
                <a:spcPct val="110000"/>
              </a:lnSpc>
              <a:spcBef>
                <a:spcPts val="0"/>
              </a:spcBef>
              <a:spcAft>
                <a:spcPts val="1400"/>
              </a:spcAft>
            </a:pPr>
            <a:r>
              <a:rPr sz="2200" b="1" i="0">
                <a:solidFill>
                  <a:srgbClr val="C2410C"/>
                </a:solidFill>
                <a:latin typeface="Calibri"/>
              </a:rPr>
              <a:t>1.  </a:t>
            </a:r>
            <a:r>
              <a:rPr sz="2200" b="1" i="0">
                <a:solidFill>
                  <a:srgbClr val="14241C"/>
                </a:solidFill>
                <a:latin typeface="Calibri"/>
              </a:rPr>
              <a:t>Add it to your home screen</a:t>
            </a:r>
            <a:r>
              <a:rPr sz="2200" b="0" i="0">
                <a:solidFill>
                  <a:srgbClr val="14241C"/>
                </a:solidFill>
                <a:latin typeface="Calibri"/>
              </a:rPr>
              <a:t>  — so it's one tap away.</a:t>
            </a:r>
          </a:p>
          <a:p>
            <a:pPr algn="l">
              <a:lnSpc>
                <a:spcPct val="110000"/>
              </a:lnSpc>
              <a:spcBef>
                <a:spcPts val="0"/>
              </a:spcBef>
              <a:spcAft>
                <a:spcPts val="1400"/>
              </a:spcAft>
            </a:pPr>
            <a:r>
              <a:rPr sz="2200" b="1" i="0">
                <a:solidFill>
                  <a:srgbClr val="C2410C"/>
                </a:solidFill>
                <a:latin typeface="Calibri"/>
              </a:rPr>
              <a:t>2.  </a:t>
            </a:r>
            <a:r>
              <a:rPr sz="2200" b="1" i="0">
                <a:solidFill>
                  <a:srgbClr val="14241C"/>
                </a:solidFill>
                <a:latin typeface="Calibri"/>
              </a:rPr>
              <a:t>Sign in with your email</a:t>
            </a:r>
            <a:r>
              <a:rPr sz="2200" b="0" i="0">
                <a:solidFill>
                  <a:srgbClr val="14241C"/>
                </a:solidFill>
                <a:latin typeface="Calibri"/>
              </a:rPr>
              <a:t>  — name + the 6-digit code, no password.</a:t>
            </a:r>
          </a:p>
          <a:p>
            <a:pPr algn="l">
              <a:lnSpc>
                <a:spcPct val="110000"/>
              </a:lnSpc>
              <a:spcBef>
                <a:spcPts val="0"/>
              </a:spcBef>
              <a:spcAft>
                <a:spcPts val="1400"/>
              </a:spcAft>
            </a:pPr>
            <a:r>
              <a:rPr sz="2200" b="1" i="0">
                <a:solidFill>
                  <a:srgbClr val="C2410C"/>
                </a:solidFill>
                <a:latin typeface="Calibri"/>
              </a:rPr>
              <a:t>3.  </a:t>
            </a:r>
            <a:r>
              <a:rPr sz="2200" b="1" i="0">
                <a:solidFill>
                  <a:srgbClr val="14241C"/>
                </a:solidFill>
                <a:latin typeface="Calibri"/>
              </a:rPr>
              <a:t>RSVP to Family Fest</a:t>
            </a:r>
            <a:r>
              <a:rPr sz="2200" b="0" i="0">
                <a:solidFill>
                  <a:srgbClr val="14241C"/>
                </a:solidFill>
                <a:latin typeface="Calibri"/>
              </a:rPr>
              <a:t>  — tell us which days, July 27–31.</a:t>
            </a:r>
          </a:p>
          <a:p>
            <a:pPr algn="l">
              <a:lnSpc>
                <a:spcPct val="110000"/>
              </a:lnSpc>
              <a:spcBef>
                <a:spcPts val="0"/>
              </a:spcBef>
              <a:spcAft>
                <a:spcPts val="1400"/>
              </a:spcAft>
            </a:pPr>
            <a:r>
              <a:rPr sz="2000" b="1" i="0">
                <a:solidFill>
                  <a:srgbClr val="15503A"/>
                </a:solidFill>
                <a:latin typeface="Calibri"/>
              </a:rPr>
              <a:t>“Do those three today and you're all set. Post a photo this week so we know it's working — and I'm right here if anyone gets stuck.”</a:t>
            </a:r>
          </a:p>
          <a:p>
            <a:pPr algn="l">
              <a:lnSpc>
                <a:spcPct val="110000"/>
              </a:lnSpc>
              <a:spcBef>
                <a:spcPts val="0"/>
              </a:spcBef>
              <a:spcAft>
                <a:spcPts val="1400"/>
              </a:spcAft>
            </a:pPr>
            <a:r>
              <a:rPr sz="1800" b="1" i="0">
                <a:solidFill>
                  <a:srgbClr val="6B7068"/>
                </a:solidFill>
                <a:latin typeface="Calibri"/>
              </a:rPr>
              <a:t>Get it at  </a:t>
            </a:r>
            <a:r>
              <a:rPr sz="1800" b="1" i="0">
                <a:solidFill>
                  <a:srgbClr val="15503A"/>
                </a:solidFill>
                <a:latin typeface="Calibri"/>
              </a:rPr>
              <a:t>mlr-app-omega.vercel.app</a:t>
            </a:r>
          </a:p>
        </p:txBody>
      </p:sp>
      <p:sp>
        <p:nvSpPr>
          <p:cNvPr id="11" name="Rounded Rectangle 10"/>
          <p:cNvSpPr/>
          <p:nvPr/>
        </p:nvSpPr>
        <p:spPr>
          <a:xfrm>
            <a:off x="411480" y="11539728"/>
            <a:ext cx="6035040" cy="64008"/>
          </a:xfrm>
          <a:prstGeom prst="roundRect">
            <a:avLst>
              <a:gd name="adj" fmla="val 8000"/>
            </a:avLst>
          </a:prstGeom>
          <a:solidFill>
            <a:srgbClr val="E5E4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11480" y="11539728"/>
            <a:ext cx="6035040" cy="64008"/>
          </a:xfrm>
          <a:prstGeom prst="roundRect">
            <a:avLst>
              <a:gd name="adj" fmla="val 8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1137392"/>
            <a:ext cx="6035040" cy="310896"/>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200" b="1" i="0">
                <a:solidFill>
                  <a:srgbClr val="6B7068"/>
                </a:solidFill>
                <a:latin typeface="Calibri"/>
              </a:rPr>
              <a:t>NEXT  ›  </a:t>
            </a:r>
            <a:r>
              <a:rPr sz="1200" b="0" i="1">
                <a:solidFill>
                  <a:srgbClr val="6B7068"/>
                </a:solidFill>
                <a:latin typeface="Calibri"/>
              </a:rPr>
              <a:t>Quick facts (for Q&amp;A)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858000" cy="12191695"/>
          </a:xfrm>
          <a:prstGeom prst="rect">
            <a:avLst/>
          </a:prstGeom>
          <a:solidFill>
            <a:srgbClr val="F6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858000" cy="1371600"/>
          </a:xfrm>
          <a:prstGeom prst="rect">
            <a:avLst/>
          </a:prstGeom>
          <a:solidFill>
            <a:srgbClr val="0C40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6035040" cy="1005840"/>
          </a:xfrm>
          <a:prstGeom prst="rect">
            <a:avLst/>
          </a:prstGeom>
          <a:noFill/>
        </p:spPr>
        <p:txBody>
          <a:bodyPr wrap="square" anchor="ctr" lIns="25400" rIns="25400" tIns="12700" bIns="12700">
            <a:spAutoFit/>
          </a:bodyPr>
          <a:lstStyle/>
          <a:p>
            <a:pPr algn="l">
              <a:lnSpc>
                <a:spcPct val="100000"/>
              </a:lnSpc>
              <a:spcBef>
                <a:spcPts val="0"/>
              </a:spcBef>
              <a:spcAft>
                <a:spcPts val="400"/>
              </a:spcAft>
            </a:pPr>
            <a:r>
              <a:rPr sz="2500" b="1" i="0">
                <a:solidFill>
                  <a:srgbClr val="FFFFFF"/>
                </a:solidFill>
                <a:latin typeface="Calibri"/>
              </a:rPr>
              <a:t>Quick facts  ·  for live Q&amp;A</a:t>
            </a:r>
          </a:p>
        </p:txBody>
      </p:sp>
      <p:sp>
        <p:nvSpPr>
          <p:cNvPr id="5" name="Rounded Rectangle 4"/>
          <p:cNvSpPr/>
          <p:nvPr/>
        </p:nvSpPr>
        <p:spPr>
          <a:xfrm>
            <a:off x="411480" y="1554480"/>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73352"/>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Family Fest 2026</a:t>
            </a:r>
          </a:p>
        </p:txBody>
      </p:sp>
      <p:sp>
        <p:nvSpPr>
          <p:cNvPr id="7" name="TextBox 6"/>
          <p:cNvSpPr txBox="1"/>
          <p:nvPr/>
        </p:nvSpPr>
        <p:spPr>
          <a:xfrm>
            <a:off x="640080" y="2057400"/>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July 27–31 (Mon–Fri) · “Ye Olde Family Feste” · $100/adult</a:t>
            </a:r>
          </a:p>
        </p:txBody>
      </p:sp>
      <p:sp>
        <p:nvSpPr>
          <p:cNvPr id="8" name="Rounded Rectangle 7"/>
          <p:cNvSpPr/>
          <p:nvPr/>
        </p:nvSpPr>
        <p:spPr>
          <a:xfrm>
            <a:off x="411480" y="2852928"/>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971800"/>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Where</a:t>
            </a:r>
          </a:p>
        </p:txBody>
      </p:sp>
      <p:sp>
        <p:nvSpPr>
          <p:cNvPr id="10" name="TextBox 9"/>
          <p:cNvSpPr txBox="1"/>
          <p:nvPr/>
        </p:nvSpPr>
        <p:spPr>
          <a:xfrm>
            <a:off x="640080" y="3355848"/>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Muskellunge Lake Resort, Tomahawk WI · Hwy 8, in the family since 1959</a:t>
            </a:r>
          </a:p>
        </p:txBody>
      </p:sp>
      <p:sp>
        <p:nvSpPr>
          <p:cNvPr id="11" name="Rounded Rectangle 10"/>
          <p:cNvSpPr/>
          <p:nvPr/>
        </p:nvSpPr>
        <p:spPr>
          <a:xfrm>
            <a:off x="411480" y="4151376"/>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270248"/>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Get it / sign in</a:t>
            </a:r>
          </a:p>
        </p:txBody>
      </p:sp>
      <p:sp>
        <p:nvSpPr>
          <p:cNvPr id="13" name="TextBox 12"/>
          <p:cNvSpPr txBox="1"/>
          <p:nvPr/>
        </p:nvSpPr>
        <p:spPr>
          <a:xfrm>
            <a:off x="640080" y="4654296"/>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mlr-app-omega.vercel.app · email a 6-digit code, no password · browsing needs no account</a:t>
            </a:r>
          </a:p>
        </p:txBody>
      </p:sp>
      <p:sp>
        <p:nvSpPr>
          <p:cNvPr id="14" name="Rounded Rectangle 13"/>
          <p:cNvSpPr/>
          <p:nvPr/>
        </p:nvSpPr>
        <p:spPr>
          <a:xfrm>
            <a:off x="411480" y="5449824"/>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568696"/>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Pay</a:t>
            </a:r>
          </a:p>
        </p:txBody>
      </p:sp>
      <p:sp>
        <p:nvSpPr>
          <p:cNvPr id="16" name="TextBox 15"/>
          <p:cNvSpPr txBox="1"/>
          <p:nvPr/>
        </p:nvSpPr>
        <p:spPr>
          <a:xfrm>
            <a:off x="640080" y="5952744"/>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Venmo (preferred) or Zelle · Cathy Hofer collects · app stores nothing</a:t>
            </a:r>
          </a:p>
        </p:txBody>
      </p:sp>
      <p:sp>
        <p:nvSpPr>
          <p:cNvPr id="17" name="Rounded Rectangle 16"/>
          <p:cNvSpPr/>
          <p:nvPr/>
        </p:nvSpPr>
        <p:spPr>
          <a:xfrm>
            <a:off x="411480" y="6748272"/>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6867144"/>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Signature nights</a:t>
            </a:r>
          </a:p>
        </p:txBody>
      </p:sp>
      <p:sp>
        <p:nvSpPr>
          <p:cNvPr id="19" name="TextBox 18"/>
          <p:cNvSpPr txBox="1"/>
          <p:nvPr/>
        </p:nvSpPr>
        <p:spPr>
          <a:xfrm>
            <a:off x="640080" y="7251192"/>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Mon bonfire · Wed musky tourney · Thu talent show · Fri fireworks</a:t>
            </a:r>
          </a:p>
        </p:txBody>
      </p:sp>
      <p:sp>
        <p:nvSpPr>
          <p:cNvPr id="20" name="Rounded Rectangle 19"/>
          <p:cNvSpPr/>
          <p:nvPr/>
        </p:nvSpPr>
        <p:spPr>
          <a:xfrm>
            <a:off x="411480" y="8046720"/>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8165592"/>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Resort WiFi</a:t>
            </a:r>
          </a:p>
        </p:txBody>
      </p:sp>
      <p:sp>
        <p:nvSpPr>
          <p:cNvPr id="22" name="TextBox 21"/>
          <p:cNvSpPr txBox="1"/>
          <p:nvPr/>
        </p:nvSpPr>
        <p:spPr>
          <a:xfrm>
            <a:off x="640080" y="8549640"/>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Network: MLR-Guest   ·   Password: musky2026</a:t>
            </a:r>
          </a:p>
        </p:txBody>
      </p:sp>
      <p:sp>
        <p:nvSpPr>
          <p:cNvPr id="23" name="Rounded Rectangle 22"/>
          <p:cNvSpPr/>
          <p:nvPr/>
        </p:nvSpPr>
        <p:spPr>
          <a:xfrm>
            <a:off x="411480" y="9345168"/>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9464040"/>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Front desk / check-in</a:t>
            </a:r>
          </a:p>
        </p:txBody>
      </p:sp>
      <p:sp>
        <p:nvSpPr>
          <p:cNvPr id="25" name="TextBox 24"/>
          <p:cNvSpPr txBox="1"/>
          <p:nvPr/>
        </p:nvSpPr>
        <p:spPr>
          <a:xfrm>
            <a:off x="640080" y="9848088"/>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Phone 715-555-0100 · check-in 4pm, out 11am</a:t>
            </a:r>
          </a:p>
        </p:txBody>
      </p:sp>
      <p:sp>
        <p:nvSpPr>
          <p:cNvPr id="26" name="Rounded Rectangle 25"/>
          <p:cNvSpPr/>
          <p:nvPr/>
        </p:nvSpPr>
        <p:spPr>
          <a:xfrm>
            <a:off x="411480" y="10643616"/>
            <a:ext cx="6035040" cy="1188720"/>
          </a:xfrm>
          <a:prstGeom prst="roundRect">
            <a:avLst>
              <a:gd name="adj" fmla="val 8000"/>
            </a:avLst>
          </a:prstGeom>
          <a:solidFill>
            <a:srgbClr val="FFFFFF"/>
          </a:solidFill>
          <a:ln w="12700">
            <a:solidFill>
              <a:srgbClr val="E5E4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10762488"/>
            <a:ext cx="5577840" cy="36576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600" b="1" i="0">
                <a:solidFill>
                  <a:srgbClr val="15503A"/>
                </a:solidFill>
                <a:latin typeface="Calibri"/>
              </a:rPr>
              <a:t>Need help (you)</a:t>
            </a:r>
          </a:p>
        </p:txBody>
      </p:sp>
      <p:sp>
        <p:nvSpPr>
          <p:cNvPr id="28" name="TextBox 27"/>
          <p:cNvSpPr txBox="1"/>
          <p:nvPr/>
        </p:nvSpPr>
        <p:spPr>
          <a:xfrm>
            <a:off x="640080" y="11146536"/>
            <a:ext cx="5577840" cy="640080"/>
          </a:xfrm>
          <a:prstGeom prst="rect">
            <a:avLst/>
          </a:prstGeom>
          <a:noFill/>
        </p:spPr>
        <p:txBody>
          <a:bodyPr wrap="square" anchor="t" lIns="25400" rIns="25400" tIns="12700" bIns="12700">
            <a:spAutoFit/>
          </a:bodyPr>
          <a:lstStyle/>
          <a:p>
            <a:pPr algn="l">
              <a:lnSpc>
                <a:spcPct val="100000"/>
              </a:lnSpc>
              <a:spcBef>
                <a:spcPts val="0"/>
              </a:spcBef>
              <a:spcAft>
                <a:spcPts val="400"/>
              </a:spcAft>
            </a:pPr>
            <a:r>
              <a:rPr sz="1300" b="0" i="0">
                <a:solidFill>
                  <a:srgbClr val="14241C"/>
                </a:solidFill>
                <a:latin typeface="Calibri"/>
              </a:rPr>
              <a:t>Brian Theis · 224-800-5389 · brian.theis15@gmail.com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